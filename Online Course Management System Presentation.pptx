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Inter" panose="02000503000000020004"/>
      <p:regular r:id="rId21"/>
    </p:embeddedFont>
    <p:embeddedFont>
      <p:font typeface="Urbanist" panose="020B0A04040200000203"/>
      <p:regular r:id="rId22"/>
    </p:embeddedFont>
    <p:embeddedFont>
      <p:font typeface="Inter SemiBold" panose="02000503000000020004"/>
      <p:regular r:id="rId23"/>
    </p:embeddedFont>
    <p:embeddedFont>
      <p:font typeface="Urbanist SemiBold"/>
      <p:regular r:id="rId24"/>
    </p:embeddedFont>
    <p:embeddedFont>
      <p:font typeface="Inter" panose="02000503000000020004" charset="0"/>
      <p:regular r:id="rId25"/>
    </p:embeddedFont>
    <p:embeddedFont>
      <p:font typeface="Urbanist" panose="020B0A04040200000203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1627665-FCB6-4CE8-9C23-A5988CCB906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9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1.pn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n-lt"/>
                <a:ea typeface="+mn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+mn-lt"/>
                <a:ea typeface="+mn-ea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+mn-lt"/>
                <a:ea typeface="+mn-e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+mn-lt"/>
                <a:ea typeface="+mn-ea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+mn-lt"/>
                <a:ea typeface="+mn-ea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+mn-lt"/>
                <a:ea typeface="+mn-ea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+mn-lt"/>
                <a:ea typeface="+mn-e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ea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+mn-lt"/>
                <a:ea typeface="+mn-e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ea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+mn-lt"/>
                <a:ea typeface="+mn-ea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+mn-lt"/>
                <a:ea typeface="+mn-ea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+mn-lt"/>
                <a:ea typeface="+mn-ea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+mn-lt"/>
                <a:ea typeface="+mn-e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+mn-lt"/>
                <a:ea typeface="+mn-e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795"/>
            <a:ext cx="12172950" cy="6858000"/>
          </a:xfrm>
          <a:prstGeom prst="rect">
            <a:avLst/>
          </a:prstGeom>
        </p:spPr>
      </p:pic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619125" y="549422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647460" y="596808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>
            <a:off x="647460" y="65395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4" name="任意多边形: 形状 13"/>
          <p:cNvSpPr/>
          <p:nvPr>
            <p:custDataLst>
              <p:tags r:id="rId7"/>
            </p:custDataLst>
          </p:nvPr>
        </p:nvSpPr>
        <p:spPr>
          <a:xfrm>
            <a:off x="647460" y="71110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8"/>
            </p:custDataLst>
          </p:nvPr>
        </p:nvSpPr>
        <p:spPr>
          <a:xfrm rot="16200000">
            <a:off x="113766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9"/>
            </p:custDataLst>
          </p:nvPr>
        </p:nvSpPr>
        <p:spPr>
          <a:xfrm rot="16200000">
            <a:off x="11424285" y="620713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1" name="任意多边形: 形状 20"/>
          <p:cNvSpPr/>
          <p:nvPr>
            <p:custDataLst>
              <p:tags r:id="rId10"/>
            </p:custDataLst>
          </p:nvPr>
        </p:nvSpPr>
        <p:spPr>
          <a:xfrm rot="5400000">
            <a:off x="111480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2" name="任意多边形: 形状 21"/>
          <p:cNvSpPr/>
          <p:nvPr>
            <p:custDataLst>
              <p:tags r:id="rId11"/>
            </p:custDataLst>
          </p:nvPr>
        </p:nvSpPr>
        <p:spPr>
          <a:xfrm rot="5400000">
            <a:off x="11195685" y="630237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2"/>
            </p:custDataLst>
          </p:nvPr>
        </p:nvSpPr>
        <p:spPr>
          <a:xfrm>
            <a:off x="5361305" y="3970020"/>
            <a:ext cx="1468755" cy="4121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2931795" y="3439795"/>
            <a:ext cx="6328410" cy="429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010842" y="886460"/>
            <a:ext cx="8169679" cy="253174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795"/>
            <a:ext cx="12172950" cy="6858000"/>
          </a:xfrm>
          <a:prstGeom prst="rect">
            <a:avLst/>
          </a:prstGeom>
        </p:spPr>
      </p:pic>
      <p:cxnSp>
        <p:nvCxnSpPr>
          <p:cNvPr id="58" name="直接连接符 57"/>
          <p:cNvCxnSpPr/>
          <p:nvPr userDrawn="1">
            <p:custDataLst>
              <p:tags r:id="rId4"/>
            </p:custDataLst>
          </p:nvPr>
        </p:nvCxnSpPr>
        <p:spPr>
          <a:xfrm>
            <a:off x="7647305" y="688340"/>
            <a:ext cx="0" cy="591185"/>
          </a:xfrm>
          <a:prstGeom prst="line">
            <a:avLst/>
          </a:prstGeom>
          <a:ln w="28575" cap="rnd"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tx1">
                    <a:alpha val="5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818120" y="271145"/>
            <a:ext cx="4291330" cy="1259840"/>
          </a:xfrm>
          <a:prstGeom prst="rect">
            <a:avLst/>
          </a:prstGeom>
          <a:noFill/>
        </p:spPr>
        <p:txBody>
          <a:bodyPr wrap="square" lIns="90170" tIns="46990" rIns="90170" bIns="4699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cxnSp>
        <p:nvCxnSpPr>
          <p:cNvPr id="18" name="直接连接符 17"/>
          <p:cNvCxnSpPr/>
          <p:nvPr>
            <p:custDataLst>
              <p:tags r:id="rId4"/>
            </p:custDataLst>
          </p:nvPr>
        </p:nvCxnSpPr>
        <p:spPr>
          <a:xfrm>
            <a:off x="833120" y="2759075"/>
            <a:ext cx="3817620" cy="0"/>
          </a:xfrm>
          <a:prstGeom prst="line">
            <a:avLst/>
          </a:prstGeom>
          <a:ln w="25400" cap="rnd">
            <a:gradFill>
              <a:gsLst>
                <a:gs pos="0">
                  <a:schemeClr val="accent1"/>
                </a:gs>
                <a:gs pos="99000">
                  <a:schemeClr val="tx1">
                    <a:alpha val="0"/>
                  </a:schemeClr>
                </a:gs>
                <a:gs pos="48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747395" y="1339215"/>
            <a:ext cx="4999990" cy="1445260"/>
          </a:xfrm>
          <a:prstGeom prst="rect">
            <a:avLst/>
          </a:prstGeom>
        </p:spPr>
        <p:txBody>
          <a:bodyPr wrap="non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88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747395" y="2825115"/>
            <a:ext cx="6303645" cy="2420620"/>
          </a:xfrm>
          <a:prstGeom prst="rect">
            <a:avLst/>
          </a:prstGeom>
        </p:spPr>
        <p:txBody>
          <a:bodyPr wrap="square" lIns="91440" tIns="45720" rIns="91440" bIns="45720" rtlCol="0" anchor="t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2" name="任意多边形: 形状 11"/>
          <p:cNvSpPr/>
          <p:nvPr userDrawn="1">
            <p:custDataLst>
              <p:tags r:id="rId10"/>
            </p:custDataLst>
          </p:nvPr>
        </p:nvSpPr>
        <p:spPr>
          <a:xfrm>
            <a:off x="619125" y="549422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11"/>
            </p:custDataLst>
          </p:nvPr>
        </p:nvSpPr>
        <p:spPr>
          <a:xfrm>
            <a:off x="647460" y="596808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12"/>
            </p:custDataLst>
          </p:nvPr>
        </p:nvSpPr>
        <p:spPr>
          <a:xfrm>
            <a:off x="647460" y="65395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13"/>
            </p:custDataLst>
          </p:nvPr>
        </p:nvSpPr>
        <p:spPr>
          <a:xfrm>
            <a:off x="647460" y="71110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14"/>
            </p:custDataLst>
          </p:nvPr>
        </p:nvSpPr>
        <p:spPr>
          <a:xfrm rot="16200000">
            <a:off x="113766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5"/>
            </p:custDataLst>
          </p:nvPr>
        </p:nvSpPr>
        <p:spPr>
          <a:xfrm rot="16200000">
            <a:off x="11424285" y="620713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16"/>
            </p:custDataLst>
          </p:nvPr>
        </p:nvSpPr>
        <p:spPr>
          <a:xfrm rot="5400000">
            <a:off x="111480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7"/>
            </p:custDataLst>
          </p:nvPr>
        </p:nvSpPr>
        <p:spPr>
          <a:xfrm rot="5400000">
            <a:off x="11195685" y="630237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cxnSp>
        <p:nvCxnSpPr>
          <p:cNvPr id="45" name="直接连接符 44"/>
          <p:cNvCxnSpPr/>
          <p:nvPr>
            <p:custDataLst>
              <p:tags r:id="rId4"/>
            </p:custDataLst>
          </p:nvPr>
        </p:nvCxnSpPr>
        <p:spPr>
          <a:xfrm>
            <a:off x="3612514" y="3646805"/>
            <a:ext cx="4966970" cy="0"/>
          </a:xfrm>
          <a:prstGeom prst="line">
            <a:avLst/>
          </a:prstGeom>
          <a:ln w="25400" cap="rnd">
            <a:gradFill>
              <a:gsLst>
                <a:gs pos="40000">
                  <a:schemeClr val="accent1"/>
                </a:gs>
                <a:gs pos="100000">
                  <a:schemeClr val="tx1">
                    <a:alpha val="0"/>
                  </a:schemeClr>
                </a:gs>
                <a:gs pos="0">
                  <a:schemeClr val="tx1">
                    <a:alpha val="0"/>
                  </a:schemeClr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5358765" y="4029075"/>
            <a:ext cx="1427480" cy="3676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3324225" y="1586865"/>
            <a:ext cx="5520055" cy="200596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3" name="任意多边形: 形状 12"/>
          <p:cNvSpPr/>
          <p:nvPr userDrawn="1">
            <p:custDataLst>
              <p:tags r:id="rId10"/>
            </p:custDataLst>
          </p:nvPr>
        </p:nvSpPr>
        <p:spPr>
          <a:xfrm>
            <a:off x="619125" y="549422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11"/>
            </p:custDataLst>
          </p:nvPr>
        </p:nvSpPr>
        <p:spPr>
          <a:xfrm>
            <a:off x="647460" y="596808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12"/>
            </p:custDataLst>
          </p:nvPr>
        </p:nvSpPr>
        <p:spPr>
          <a:xfrm>
            <a:off x="647460" y="65395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13"/>
            </p:custDataLst>
          </p:nvPr>
        </p:nvSpPr>
        <p:spPr>
          <a:xfrm>
            <a:off x="647460" y="711107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4"/>
            </p:custDataLst>
          </p:nvPr>
        </p:nvSpPr>
        <p:spPr>
          <a:xfrm rot="16200000">
            <a:off x="113766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15"/>
            </p:custDataLst>
          </p:nvPr>
        </p:nvSpPr>
        <p:spPr>
          <a:xfrm rot="16200000">
            <a:off x="11424285" y="620713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6"/>
            </p:custDataLst>
          </p:nvPr>
        </p:nvSpPr>
        <p:spPr>
          <a:xfrm rot="5400000">
            <a:off x="11148060" y="54927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17"/>
            </p:custDataLst>
          </p:nvPr>
        </p:nvSpPr>
        <p:spPr>
          <a:xfrm rot="5400000">
            <a:off x="11195685" y="630237"/>
            <a:ext cx="133350" cy="76200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+mn-ea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+mn-ea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+mn-ea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+mj-lt"/>
          <a:ea typeface="+mj-ea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+mn-lt"/>
          <a:ea typeface="+mn-ea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9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  <p:custDataLst>
      <p:tags r:id="rId18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uFillTx/>
          <a:latin typeface="Arial" panose="020B060402020209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en-US" sz="1800" b="0" i="0" u="none" strike="noStrike" kern="1200" cap="none" spc="0" normalizeH="0" baseline="0">
          <a:ln>
            <a:noFill/>
            <a:prstDash val="sysDot"/>
          </a:ln>
          <a:solidFill>
            <a:schemeClr val="tx1"/>
          </a:solidFill>
          <a:uFillTx/>
          <a:latin typeface="Arial" panose="020B060402020209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3.xml"/><Relationship Id="rId2" Type="http://schemas.openxmlformats.org/officeDocument/2006/relationships/tags" Target="../tags/tag100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image" Target="../media/image8.png"/><Relationship Id="rId16" Type="http://schemas.openxmlformats.org/officeDocument/2006/relationships/tags" Target="../tags/tag109.xml"/><Relationship Id="rId15" Type="http://schemas.openxmlformats.org/officeDocument/2006/relationships/image" Target="../media/image7.png"/><Relationship Id="rId14" Type="http://schemas.openxmlformats.org/officeDocument/2006/relationships/tags" Target="../tags/tag108.xml"/><Relationship Id="rId13" Type="http://schemas.openxmlformats.org/officeDocument/2006/relationships/image" Target="../media/image6.png"/><Relationship Id="rId12" Type="http://schemas.openxmlformats.org/officeDocument/2006/relationships/tags" Target="../tags/tag107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9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image" Target="../media/image10.png"/><Relationship Id="rId4" Type="http://schemas.openxmlformats.org/officeDocument/2006/relationships/tags" Target="../tags/tag114.xml"/><Relationship Id="rId3" Type="http://schemas.openxmlformats.org/officeDocument/2006/relationships/image" Target="../media/image9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3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image" Target="../media/image11.png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image" Target="../media/image12.png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3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image" Target="../media/image15.png"/><Relationship Id="rId5" Type="http://schemas.openxmlformats.org/officeDocument/2006/relationships/tags" Target="../tags/tag139.xml"/><Relationship Id="rId4" Type="http://schemas.openxmlformats.org/officeDocument/2006/relationships/image" Target="../media/image14.png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18.xml"/><Relationship Id="rId30" Type="http://schemas.openxmlformats.org/officeDocument/2006/relationships/tags" Target="../tags/tag156.xml"/><Relationship Id="rId3" Type="http://schemas.openxmlformats.org/officeDocument/2006/relationships/tags" Target="../tags/tag138.xml"/><Relationship Id="rId29" Type="http://schemas.openxmlformats.org/officeDocument/2006/relationships/tags" Target="../tags/tag155.xml"/><Relationship Id="rId28" Type="http://schemas.openxmlformats.org/officeDocument/2006/relationships/image" Target="../media/image22.png"/><Relationship Id="rId27" Type="http://schemas.openxmlformats.org/officeDocument/2006/relationships/tags" Target="../tags/tag154.xml"/><Relationship Id="rId26" Type="http://schemas.openxmlformats.org/officeDocument/2006/relationships/image" Target="../media/image21.png"/><Relationship Id="rId25" Type="http://schemas.openxmlformats.org/officeDocument/2006/relationships/tags" Target="../tags/tag153.xml"/><Relationship Id="rId24" Type="http://schemas.openxmlformats.org/officeDocument/2006/relationships/image" Target="../media/image20.png"/><Relationship Id="rId23" Type="http://schemas.openxmlformats.org/officeDocument/2006/relationships/tags" Target="../tags/tag152.xml"/><Relationship Id="rId22" Type="http://schemas.openxmlformats.org/officeDocument/2006/relationships/image" Target="../media/image19.png"/><Relationship Id="rId21" Type="http://schemas.openxmlformats.org/officeDocument/2006/relationships/tags" Target="../tags/tag151.xml"/><Relationship Id="rId20" Type="http://schemas.openxmlformats.org/officeDocument/2006/relationships/image" Target="../media/image18.png"/><Relationship Id="rId2" Type="http://schemas.openxmlformats.org/officeDocument/2006/relationships/image" Target="../media/image13.png"/><Relationship Id="rId19" Type="http://schemas.openxmlformats.org/officeDocument/2006/relationships/tags" Target="../tags/tag150.xml"/><Relationship Id="rId18" Type="http://schemas.openxmlformats.org/officeDocument/2006/relationships/image" Target="../media/image17.png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image" Target="../media/image3.png"/><Relationship Id="rId2" Type="http://schemas.openxmlformats.org/officeDocument/2006/relationships/tags" Target="../tags/tag161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image" Target="../media/image26.png"/><Relationship Id="rId6" Type="http://schemas.openxmlformats.org/officeDocument/2006/relationships/tags" Target="../tags/tag185.xml"/><Relationship Id="rId5" Type="http://schemas.openxmlformats.org/officeDocument/2006/relationships/image" Target="../media/image25.png"/><Relationship Id="rId4" Type="http://schemas.openxmlformats.org/officeDocument/2006/relationships/tags" Target="../tags/tag184.xml"/><Relationship Id="rId3" Type="http://schemas.openxmlformats.org/officeDocument/2006/relationships/image" Target="../media/image24.png"/><Relationship Id="rId2" Type="http://schemas.openxmlformats.org/officeDocument/2006/relationships/tags" Target="../tags/tag183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8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image" Target="../media/image27.png"/><Relationship Id="rId2" Type="http://schemas.openxmlformats.org/officeDocument/2006/relationships/tags" Target="../tags/tag195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9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image" Target="../media/image31.png"/><Relationship Id="rId7" Type="http://schemas.openxmlformats.org/officeDocument/2006/relationships/tags" Target="../tags/tag205.xml"/><Relationship Id="rId6" Type="http://schemas.openxmlformats.org/officeDocument/2006/relationships/image" Target="../media/image30.png"/><Relationship Id="rId5" Type="http://schemas.openxmlformats.org/officeDocument/2006/relationships/tags" Target="../tags/tag204.xml"/><Relationship Id="rId4" Type="http://schemas.openxmlformats.org/officeDocument/2006/relationships/image" Target="../media/image29.png"/><Relationship Id="rId3" Type="http://schemas.openxmlformats.org/officeDocument/2006/relationships/tags" Target="../tags/tag203.xml"/><Relationship Id="rId2" Type="http://schemas.openxmlformats.org/officeDocument/2006/relationships/image" Target="../media/image28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20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image" Target="../media/image33.png"/><Relationship Id="rId4" Type="http://schemas.openxmlformats.org/officeDocument/2006/relationships/tags" Target="../tags/tag214.xml"/><Relationship Id="rId3" Type="http://schemas.openxmlformats.org/officeDocument/2006/relationships/image" Target="../media/image32.png"/><Relationship Id="rId22" Type="http://schemas.openxmlformats.org/officeDocument/2006/relationships/notesSlide" Target="../notesSlides/notesSlide12.xml"/><Relationship Id="rId21" Type="http://schemas.openxmlformats.org/officeDocument/2006/relationships/slideLayout" Target="../slideLayouts/slideLayout13.xml"/><Relationship Id="rId20" Type="http://schemas.openxmlformats.org/officeDocument/2006/relationships/tags" Target="../tags/tag228.xml"/><Relationship Id="rId2" Type="http://schemas.openxmlformats.org/officeDocument/2006/relationships/tags" Target="../tags/tag213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image" Target="../media/image34.png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tags" Target="../tags/tag2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image" Target="../media/image35.png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6" Type="http://schemas.openxmlformats.org/officeDocument/2006/relationships/notesSlide" Target="../notesSlides/notesSlide13.xml"/><Relationship Id="rId25" Type="http://schemas.openxmlformats.org/officeDocument/2006/relationships/slideLayout" Target="../slideLayouts/slideLayout18.xml"/><Relationship Id="rId24" Type="http://schemas.openxmlformats.org/officeDocument/2006/relationships/tags" Target="../tags/tag248.xml"/><Relationship Id="rId23" Type="http://schemas.openxmlformats.org/officeDocument/2006/relationships/tags" Target="../tags/tag247.xml"/><Relationship Id="rId22" Type="http://schemas.openxmlformats.org/officeDocument/2006/relationships/tags" Target="../tags/tag246.xml"/><Relationship Id="rId21" Type="http://schemas.openxmlformats.org/officeDocument/2006/relationships/tags" Target="../tags/tag245.xml"/><Relationship Id="rId20" Type="http://schemas.openxmlformats.org/officeDocument/2006/relationships/image" Target="../media/image38.png"/><Relationship Id="rId2" Type="http://schemas.openxmlformats.org/officeDocument/2006/relationships/tags" Target="../tags/tag230.xml"/><Relationship Id="rId19" Type="http://schemas.openxmlformats.org/officeDocument/2006/relationships/tags" Target="../tags/tag244.xml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image" Target="../media/image37.png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image" Target="../media/image36.png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0;p13"/>
          <p:cNvSpPr txBox="1"/>
          <p:nvPr>
            <p:custDataLst>
              <p:tags r:id="rId1"/>
            </p:custDataLst>
          </p:nvPr>
        </p:nvSpPr>
        <p:spPr>
          <a:xfrm>
            <a:off x="571500" y="5623321"/>
            <a:ext cx="3609975" cy="41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B.Tech CSE with AI &amp; ML | Session: 2025-26</a:t>
            </a:r>
            <a:endParaRPr lang="en-US" sz="135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9" name="Google Shape;91;p13"/>
          <p:cNvSpPr txBox="1"/>
          <p:nvPr>
            <p:custDataLst>
              <p:tags r:id="rId2"/>
            </p:custDataLst>
          </p:nvPr>
        </p:nvSpPr>
        <p:spPr>
          <a:xfrm>
            <a:off x="571500" y="5838586"/>
            <a:ext cx="3495675" cy="41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Rungta International Skills University, Bhilai</a:t>
            </a:r>
            <a:endParaRPr lang="en-US" sz="135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3" name="Title 0"/>
          <p:cNvSpPr>
            <a:spLocks noGrp="1"/>
          </p:cNvSpPr>
          <p:nvPr/>
        </p:nvSpPr>
        <p:spPr>
          <a:xfrm>
            <a:off x="362585" y="1576853"/>
            <a:ext cx="7910988" cy="27406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  <a:defRPr kumimoji="0" lang="en-US" sz="5400" b="1" i="0" u="none" strike="noStrike" kern="0" cap="none" spc="0" normalizeH="0" baseline="0" noProof="1">
                <a:solidFill>
                  <a:srgbClr val="0F172A"/>
                </a:solidFill>
                <a:latin typeface="+mj-lt"/>
                <a:ea typeface="+mj-ea"/>
                <a:cs typeface="Urbanist" panose="020B0A04040200000203"/>
                <a:sym typeface="Urbanist" panose="020B0A04040200000203"/>
              </a:defRPr>
            </a:lvl1pPr>
          </a:lstStyle>
          <a:p>
            <a:pPr algn="l">
              <a:buNone/>
            </a:pPr>
            <a:r>
              <a:rPr>
                <a:solidFill>
                  <a:schemeClr val="accent1"/>
                </a:solidFill>
                <a:cs typeface="Urbanist" panose="020B0A04040200000203" charset="0"/>
              </a:rPr>
              <a:t>Online CourseManagement System</a:t>
            </a:r>
            <a:endParaRPr>
              <a:solidFill>
                <a:schemeClr val="accent1"/>
              </a:solidFill>
              <a:cs typeface="Urbanist" panose="020B0A04040200000203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>
          <a:xfrm>
            <a:off x="461010" y="4889500"/>
            <a:ext cx="7534275" cy="580390"/>
          </a:xfrm>
        </p:spPr>
        <p:txBody>
          <a:bodyPr/>
          <a:p>
            <a:pPr algn="l">
              <a:buNone/>
            </a:pPr>
            <a:r>
              <a:rPr>
                <a:latin typeface="+mn-lt"/>
                <a:ea typeface="+mn-ea"/>
                <a:cs typeface="Inter" panose="02000503000000020004" charset="0"/>
              </a:rPr>
              <a:t>Using Core Java &amp; Object-Oriented Programming Concepts</a:t>
            </a:r>
            <a:endParaRPr>
              <a:latin typeface="+mn-lt"/>
              <a:ea typeface="+mn-ea"/>
              <a:cs typeface="Inter" panose="0200050300000002000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3"/>
            </p:custDataLst>
          </p:nvPr>
        </p:nvSpPr>
        <p:spPr>
          <a:xfrm>
            <a:off x="362585" y="878840"/>
            <a:ext cx="6328410" cy="42926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/>
          <a:p>
            <a:r>
              <a:rPr>
                <a:ea typeface="+mn-ea"/>
              </a:rPr>
              <a:t>PROJECT INTERIM REPORT</a:t>
            </a:r>
            <a:endParaRPr>
              <a:ea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-2007235" y="4449445"/>
            <a:ext cx="8169910" cy="440055"/>
          </a:xfrm>
        </p:spPr>
        <p:txBody>
          <a:bodyPr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400" u="none" strike="noStrike">
                <a:ea typeface="+mj-ea"/>
                <a:sym typeface="Inter SemiBold" panose="02000503000000020004"/>
              </a:rPr>
              <a:t>Rutba Khatun</a:t>
            </a:r>
            <a:endParaRPr lang="en-US" sz="4400" u="none" strike="noStrike">
              <a:ea typeface="+mj-ea"/>
              <a:sym typeface="Inter SemiBold" panose="02000503000000020004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429330" y="1490400"/>
            <a:ext cx="10969200" cy="4759200"/>
          </a:xfrm>
        </p:spPr>
        <p:txBody>
          <a:bodyPr/>
          <a:p>
            <a:pPr marL="0" indent="0">
              <a:buNone/>
            </a:pPr>
            <a:endParaRPr lang="en-US">
              <a:ea typeface="+mn-ea"/>
            </a:endParaRPr>
          </a:p>
        </p:txBody>
      </p:sp>
      <p:pic>
        <p:nvPicPr>
          <p:cNvPr id="97" name="Google Shape;97;p14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8335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custDataLst>
              <p:tags r:id="rId4"/>
            </p:custDataLst>
          </p:nvPr>
        </p:nvSpPr>
        <p:spPr>
          <a:xfrm>
            <a:off x="571500" y="2024062"/>
            <a:ext cx="5238750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The Online Course Management System is a robust </a:t>
            </a:r>
            <a:r>
              <a:rPr lang="en-US" sz="15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console-based Java application</a:t>
            </a: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designed to manage educational workflows. It simulates modern e-learning ecosystems where data integrity and learning progress tracking are paramount.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14"/>
          <p:cNvSpPr txBox="1"/>
          <p:nvPr>
            <p:custDataLst>
              <p:tags r:id="rId5"/>
            </p:custDataLst>
          </p:nvPr>
        </p:nvSpPr>
        <p:spPr>
          <a:xfrm>
            <a:off x="1000125" y="3833812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Developed using pure Core Java (JDK 8+)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>
            <p:custDataLst>
              <p:tags r:id="rId6"/>
            </p:custDataLst>
          </p:nvPr>
        </p:nvSpPr>
        <p:spPr>
          <a:xfrm>
            <a:off x="1000125" y="4329112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Implements Encapsulation &amp; Polymorphism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4"/>
          <p:cNvSpPr txBox="1"/>
          <p:nvPr>
            <p:custDataLst>
              <p:tags r:id="rId7"/>
            </p:custDataLst>
          </p:nvPr>
        </p:nvSpPr>
        <p:spPr>
          <a:xfrm>
            <a:off x="1000125" y="4824412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Array-based data management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02" name="Google Shape;102;p14"/>
          <p:cNvSpPr txBox="1"/>
          <p:nvPr>
            <p:custDataLst>
              <p:tags r:id="rId8"/>
            </p:custDataLst>
          </p:nvPr>
        </p:nvSpPr>
        <p:spPr>
          <a:xfrm>
            <a:off x="1000125" y="5319712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Dynamic learning progress tracking (0-100%)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3" name="Google Shape;103;p14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6391275" y="1843087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571500" y="38719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571500" y="43672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571500" y="48625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571500" y="53578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itle 0"/>
          <p:cNvSpPr txBox="1">
            <a:spLocks noGrp="1"/>
          </p:cNvSpPr>
          <p:nvPr>
            <p:ph type="title" idx="2"/>
            <p:custDataLst>
              <p:tags r:id="rId18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Executive Abstract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ea typeface="+mn-ea"/>
              </a:rPr>
              <a:t>单击此处编辑母版文本样式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第二级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第三级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第四级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第五级</a:t>
            </a:r>
            <a:endParaRPr lang="en-US">
              <a:ea typeface="+mn-ea"/>
            </a:endParaRPr>
          </a:p>
        </p:txBody>
      </p:sp>
      <p:pic>
        <p:nvPicPr>
          <p:cNvPr id="115" name="Google Shape;115;p15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052637"/>
            <a:ext cx="538162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238875" y="2052637"/>
            <a:ext cx="538162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>
            <p:custDataLst>
              <p:tags r:id="rId6"/>
            </p:custDataLst>
          </p:nvPr>
        </p:nvSpPr>
        <p:spPr>
          <a:xfrm>
            <a:off x="866775" y="2347912"/>
            <a:ext cx="5030628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Urbanist SemiBold"/>
                <a:sym typeface="Urbanist SemiBold"/>
              </a:rPr>
              <a:t>Introduction</a:t>
            </a:r>
            <a:endParaRPr lang="en-US" sz="2100" b="0" i="0" u="none" strike="noStrike" cap="none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Urbanist SemiBold"/>
              <a:sym typeface="Urbanist SemiBold"/>
            </a:endParaRPr>
          </a:p>
        </p:txBody>
      </p:sp>
      <p:sp>
        <p:nvSpPr>
          <p:cNvPr id="118" name="Google Shape;118;p15"/>
          <p:cNvSpPr txBox="1"/>
          <p:nvPr>
            <p:custDataLst>
              <p:tags r:id="rId7"/>
            </p:custDataLst>
          </p:nvPr>
        </p:nvSpPr>
        <p:spPr>
          <a:xfrm>
            <a:off x="866775" y="2862262"/>
            <a:ext cx="4791075" cy="221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The platform replicates essential features of a learning management system (LMS). It focuses on the interaction between two primary entities—</a:t>
            </a: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Course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and </a:t>
            </a: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Student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—facilitating seamless enrollment and record management without external libraries.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19" name="Google Shape;119;p15"/>
          <p:cNvSpPr txBox="1"/>
          <p:nvPr>
            <p:custDataLst>
              <p:tags r:id="rId8"/>
            </p:custDataLst>
          </p:nvPr>
        </p:nvSpPr>
        <p:spPr>
          <a:xfrm>
            <a:off x="6534150" y="2347912"/>
            <a:ext cx="5030628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Urbanist SemiBold"/>
                <a:sym typeface="Urbanist SemiBold"/>
              </a:rPr>
              <a:t>Core Objectives</a:t>
            </a:r>
            <a:endParaRPr lang="en-US" sz="21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120" name="Google Shape;120;p15"/>
          <p:cNvSpPr txBox="1"/>
          <p:nvPr>
            <p:custDataLst>
              <p:tags r:id="rId9"/>
            </p:custDataLst>
          </p:nvPr>
        </p:nvSpPr>
        <p:spPr>
          <a:xfrm>
            <a:off x="6962775" y="282416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Design a multi-class interaction system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21" name="Google Shape;121;p15"/>
          <p:cNvSpPr txBox="1"/>
          <p:nvPr>
            <p:custDataLst>
              <p:tags r:id="rId10"/>
            </p:custDataLst>
          </p:nvPr>
        </p:nvSpPr>
        <p:spPr>
          <a:xfrm>
            <a:off x="6962775" y="331946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Manage Course ID, Name, and Duration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22" name="Google Shape;122;p15"/>
          <p:cNvSpPr txBox="1"/>
          <p:nvPr>
            <p:custDataLst>
              <p:tags r:id="rId11"/>
            </p:custDataLst>
          </p:nvPr>
        </p:nvSpPr>
        <p:spPr>
          <a:xfrm>
            <a:off x="6962775" y="381476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Handle Student Profiles and ID tracking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15"/>
          <p:cNvSpPr txBox="1"/>
          <p:nvPr>
            <p:custDataLst>
              <p:tags r:id="rId12"/>
            </p:custDataLst>
          </p:nvPr>
        </p:nvSpPr>
        <p:spPr>
          <a:xfrm>
            <a:off x="6962775" y="431006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Implement anti-duplicate enrollment logic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15"/>
          <p:cNvSpPr txBox="1"/>
          <p:nvPr>
            <p:custDataLst>
              <p:tags r:id="rId13"/>
            </p:custDataLst>
          </p:nvPr>
        </p:nvSpPr>
        <p:spPr>
          <a:xfrm>
            <a:off x="6962775" y="480536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Provide formatted progress reports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5" name="Google Shape;125;p15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534150" y="2862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534150" y="3357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53415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534150" y="4348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534150" y="48434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20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System Introduction &amp; Goals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endParaRPr lang="en-US">
              <a:ea typeface="+mn-ea"/>
            </a:endParaRPr>
          </a:p>
        </p:txBody>
      </p:sp>
      <p:sp>
        <p:nvSpPr>
          <p:cNvPr id="139" name="Google Shape;139;p16"/>
          <p:cNvSpPr txBox="1"/>
          <p:nvPr>
            <p:custDataLst>
              <p:tags r:id="rId2"/>
            </p:custDataLst>
          </p:nvPr>
        </p:nvSpPr>
        <p:spPr>
          <a:xfrm>
            <a:off x="571500" y="2085975"/>
            <a:ext cx="520065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Urbanist SemiBold"/>
                <a:sym typeface="Urbanist SemiBold"/>
              </a:rPr>
              <a:t>Academic Demonstration</a:t>
            </a:r>
            <a:endParaRPr lang="en-US" sz="2100" b="0" i="0" u="none" strike="noStrike" cap="none">
              <a:solidFill>
                <a:schemeClr val="accent1"/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140" name="Google Shape;140;p16"/>
          <p:cNvSpPr txBox="1"/>
          <p:nvPr>
            <p:custDataLst>
              <p:tags r:id="rId3"/>
            </p:custDataLst>
          </p:nvPr>
        </p:nvSpPr>
        <p:spPr>
          <a:xfrm>
            <a:off x="571500" y="2743200"/>
            <a:ext cx="4953000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This project serves as a cornerstone for understanding real-world application of Java classes. It handles up to 50 students per course and 20 courses per student, ensuring strict validation of progress values.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41" name="Google Shape;141;p16"/>
          <p:cNvSpPr txBox="1"/>
          <p:nvPr>
            <p:custDataLst>
              <p:tags r:id="rId4"/>
            </p:custDataLst>
          </p:nvPr>
        </p:nvSpPr>
        <p:spPr>
          <a:xfrm>
            <a:off x="571500" y="4552950"/>
            <a:ext cx="49530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The system is architected for future scalability, including GUI integration via Java Swing and persistence through Database Management Systems.</a:t>
            </a:r>
            <a:endParaRPr lang="en-US" sz="1500" b="0" i="0" u="none" strike="noStrike" cap="none">
              <a:solidFill>
                <a:schemeClr val="tx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42" name="Google Shape;142;p16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6096000" y="1649095"/>
            <a:ext cx="5200015" cy="43478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7"/>
            </p:custDataLst>
          </p:nvPr>
        </p:nvSpPr>
        <p:spPr>
          <a:xfrm>
            <a:off x="2538095" y="616585"/>
            <a:ext cx="5781973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Project Scope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62187"/>
            <a:ext cx="538162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6238875" y="2262187"/>
            <a:ext cx="538162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66775" y="25574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>
            <p:custDataLst>
              <p:tags r:id="rId7"/>
            </p:custDataLst>
          </p:nvPr>
        </p:nvSpPr>
        <p:spPr>
          <a:xfrm>
            <a:off x="866775" y="3128962"/>
            <a:ext cx="5030628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Urbanist SemiBold"/>
                <a:sym typeface="Urbanist SemiBold"/>
              </a:rPr>
              <a:t>Hardware Stack</a:t>
            </a:r>
            <a:endParaRPr lang="en-US" sz="2100" b="0" i="0" u="none" strike="noStrike" cap="none">
              <a:solidFill>
                <a:schemeClr val="accent1"/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pic>
        <p:nvPicPr>
          <p:cNvPr id="152" name="Google Shape;152;p17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6534150" y="25574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>
            <p:custDataLst>
              <p:tags r:id="rId10"/>
            </p:custDataLst>
          </p:nvPr>
        </p:nvSpPr>
        <p:spPr>
          <a:xfrm>
            <a:off x="6534150" y="3128962"/>
            <a:ext cx="5030628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Urbanist SemiBold"/>
                <a:sym typeface="Urbanist SemiBold"/>
              </a:rPr>
              <a:t>Software Stack</a:t>
            </a:r>
            <a:endParaRPr lang="en-US" sz="2100" b="0" i="0" u="none" strike="noStrike" cap="none">
              <a:solidFill>
                <a:schemeClr val="accent1"/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154" name="Google Shape;154;p17"/>
          <p:cNvSpPr txBox="1"/>
          <p:nvPr>
            <p:custDataLst>
              <p:tags r:id="rId11"/>
            </p:custDataLst>
          </p:nvPr>
        </p:nvSpPr>
        <p:spPr>
          <a:xfrm>
            <a:off x="1295400" y="36052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Processor: x64 Dual-Core or higher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55" name="Google Shape;155;p17"/>
          <p:cNvSpPr txBox="1"/>
          <p:nvPr>
            <p:custDataLst>
              <p:tags r:id="rId12"/>
            </p:custDataLst>
          </p:nvPr>
        </p:nvSpPr>
        <p:spPr>
          <a:xfrm>
            <a:off x="1295400" y="41005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RAM: 4 GB DDR4 (Minimum)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7"/>
          <p:cNvSpPr txBox="1"/>
          <p:nvPr>
            <p:custDataLst>
              <p:tags r:id="rId13"/>
            </p:custDataLst>
          </p:nvPr>
        </p:nvSpPr>
        <p:spPr>
          <a:xfrm>
            <a:off x="1295400" y="45958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Storage: 100 MB free space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57" name="Google Shape;157;p17"/>
          <p:cNvSpPr txBox="1"/>
          <p:nvPr>
            <p:custDataLst>
              <p:tags r:id="rId14"/>
            </p:custDataLst>
          </p:nvPr>
        </p:nvSpPr>
        <p:spPr>
          <a:xfrm>
            <a:off x="6962775" y="36052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Java Runtime Environment: JDK 8+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7"/>
          <p:cNvSpPr txBox="1"/>
          <p:nvPr>
            <p:custDataLst>
              <p:tags r:id="rId15"/>
            </p:custDataLst>
          </p:nvPr>
        </p:nvSpPr>
        <p:spPr>
          <a:xfrm>
            <a:off x="6962775" y="41005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IDE: VS Code / IntelliJ / Eclipse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59" name="Google Shape;159;p17"/>
          <p:cNvSpPr txBox="1"/>
          <p:nvPr>
            <p:custDataLst>
              <p:tags r:id="rId16"/>
            </p:custDataLst>
          </p:nvPr>
        </p:nvSpPr>
        <p:spPr>
          <a:xfrm>
            <a:off x="6962775" y="4595812"/>
            <a:ext cx="43624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OS: Windows 10/11 or Linux</a:t>
            </a:r>
            <a:endParaRPr lang="en-US" sz="1500" b="0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0" name="Google Shape;160;p17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866775" y="3643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20"/>
          <a:srcRect/>
          <a:stretch>
            <a:fillRect/>
          </a:stretch>
        </p:blipFill>
        <p:spPr>
          <a:xfrm>
            <a:off x="866775" y="41386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>
            <p:custDataLst>
              <p:tags r:id="rId21"/>
            </p:custDataLst>
          </p:nvPr>
        </p:nvPicPr>
        <p:blipFill rotWithShape="1">
          <a:blip r:embed="rId22"/>
          <a:srcRect/>
          <a:stretch>
            <a:fillRect/>
          </a:stretch>
        </p:blipFill>
        <p:spPr>
          <a:xfrm>
            <a:off x="866775" y="4633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>
            <p:custDataLst>
              <p:tags r:id="rId23"/>
            </p:custDataLst>
          </p:nvPr>
        </p:nvPicPr>
        <p:blipFill rotWithShape="1">
          <a:blip r:embed="rId24"/>
          <a:srcRect/>
          <a:stretch>
            <a:fillRect/>
          </a:stretch>
        </p:blipFill>
        <p:spPr>
          <a:xfrm>
            <a:off x="6534150" y="3648075"/>
            <a:ext cx="171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>
            <p:custDataLst>
              <p:tags r:id="rId25"/>
            </p:custDataLst>
          </p:nvPr>
        </p:nvPicPr>
        <p:blipFill rotWithShape="1">
          <a:blip r:embed="rId26"/>
          <a:srcRect/>
          <a:stretch>
            <a:fillRect/>
          </a:stretch>
        </p:blipFill>
        <p:spPr>
          <a:xfrm>
            <a:off x="6534150" y="41386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>
            <p:custDataLst>
              <p:tags r:id="rId27"/>
            </p:custDataLst>
          </p:nvPr>
        </p:nvPicPr>
        <p:blipFill rotWithShape="1">
          <a:blip r:embed="rId28"/>
          <a:srcRect/>
          <a:stretch>
            <a:fillRect/>
          </a:stretch>
        </p:blipFill>
        <p:spPr>
          <a:xfrm>
            <a:off x="6534150" y="46339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itle 0"/>
          <p:cNvSpPr txBox="1">
            <a:spLocks noGrp="1"/>
          </p:cNvSpPr>
          <p:nvPr>
            <p:ph type="title" idx="2"/>
            <p:custDataLst>
              <p:tags r:id="rId29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Technical Specifications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747395" y="1339215"/>
            <a:ext cx="4999990" cy="1445260"/>
          </a:xfrm>
        </p:spPr>
        <p:txBody>
          <a:bodyPr>
            <a:normAutofit lnSpcReduction="10000"/>
          </a:bodyPr>
          <a:lstStyle/>
          <a:p>
            <a:r>
              <a:rPr>
                <a:ea typeface="+mn-ea"/>
              </a:rPr>
              <a:t>01</a:t>
            </a:r>
            <a:endParaRPr>
              <a:ea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747395" y="2825115"/>
            <a:ext cx="6303645" cy="242062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800" u="none" strike="noStrike">
                <a:ea typeface="+mj-ea"/>
                <a:sym typeface="Urbanist" panose="020B0A04040200000203"/>
              </a:rPr>
              <a:t>Methodology</a:t>
            </a:r>
            <a:endParaRPr lang="en-US" sz="4800" u="none" strike="noStrike">
              <a:ea typeface="+mj-ea"/>
              <a:sym typeface="Urbanist" panose="020B0A04040200000203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pic>
        <p:nvPicPr>
          <p:cNvPr id="181" name="Google Shape;181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9192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>
            <p:custDataLst>
              <p:tags r:id="rId4"/>
            </p:custDataLst>
          </p:nvPr>
        </p:nvSpPr>
        <p:spPr>
          <a:xfrm>
            <a:off x="1000125" y="2071687"/>
            <a:ext cx="4810125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Class Encapsulation:</a:t>
            </a: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All fields are private, accessed through public methods to ensure data security.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83" name="Google Shape;183;p19"/>
          <p:cNvSpPr txBox="1"/>
          <p:nvPr>
            <p:custDataLst>
              <p:tags r:id="rId5"/>
            </p:custDataLst>
          </p:nvPr>
        </p:nvSpPr>
        <p:spPr>
          <a:xfrm>
            <a:off x="1000125" y="2871787"/>
            <a:ext cx="4810125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Parallel Arrays:</a:t>
            </a: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Utilizing enrolledCourseIds[] and progressValues[] to map progress to specific subjects.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84" name="Google Shape;184;p19"/>
          <p:cNvSpPr txBox="1"/>
          <p:nvPr>
            <p:custDataLst>
              <p:tags r:id="rId6"/>
            </p:custDataLst>
          </p:nvPr>
        </p:nvSpPr>
        <p:spPr>
          <a:xfrm>
            <a:off x="1000125" y="3995737"/>
            <a:ext cx="481012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Input Validation:</a:t>
            </a: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Logic-level checks to ensure learning progress remains within the 0-100 range.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19"/>
          <p:cNvSpPr txBox="1"/>
          <p:nvPr>
            <p:custDataLst>
              <p:tags r:id="rId7"/>
            </p:custDataLst>
          </p:nvPr>
        </p:nvSpPr>
        <p:spPr>
          <a:xfrm>
            <a:off x="1000125" y="4795837"/>
            <a:ext cx="481012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Driver Class:</a:t>
            </a: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A central CourseSystem to orchestrate object instantiation and method calls.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6" name="Google Shape;186;p19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6391275" y="19288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10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Development Methodology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20"/>
          <p:cNvGraphicFramePr/>
          <p:nvPr>
            <p:custDataLst>
              <p:tags r:id="rId1"/>
            </p:custDataLst>
          </p:nvPr>
        </p:nvGraphicFramePr>
        <p:xfrm>
          <a:off x="571500" y="2687984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{A1627665-FCB6-4CE8-9C23-A5988CCB9063}</a:tableStyleId>
              </a:tblPr>
              <a:tblGrid>
                <a:gridCol w="1706175"/>
                <a:gridCol w="4116425"/>
                <a:gridCol w="5226400"/>
              </a:tblGrid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Class Name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Core Attributes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Primary Responsibilities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Course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courseId, courseName, duration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Manage enrollment lists &amp; display student lists.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Student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studentId, studentName, progressValues[]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Track course IDs &amp; validate percentage updates.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CourseSystem</a:t>
                      </a:r>
                      <a:endParaRPr lang="en-US" sz="1200" b="1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main(String[] args)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1"/>
                          </a:solidFill>
                          <a:ea typeface="+mn-ea"/>
                          <a:cs typeface="Inter" panose="02000503000000020004"/>
                          <a:sym typeface="Inter" panose="02000503000000020004"/>
                        </a:rPr>
                        <a:t>Driver class for creating objects &amp; testing edge cases.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a typeface="+mn-ea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 txBox="1"/>
          <p:nvPr>
            <p:custDataLst>
              <p:tags r:id="rId2"/>
            </p:custDataLst>
          </p:nvPr>
        </p:nvSpPr>
        <p:spPr>
          <a:xfrm>
            <a:off x="571500" y="4812059"/>
            <a:ext cx="1104900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Note: Interaction is bidirectional via enroll() and addStudent() methods.</a:t>
            </a:r>
            <a:endParaRPr lang="en-US" sz="1200" b="0" i="1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96" name="Google Shape;196;p20"/>
          <p:cNvSpPr/>
          <p:nvPr>
            <p:custDataLst>
              <p:tags r:id="rId3"/>
            </p:custDataLst>
          </p:nvPr>
        </p:nvSpPr>
        <p:spPr>
          <a:xfrm>
            <a:off x="571500" y="3635722"/>
            <a:ext cx="1706165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>
            <p:custDataLst>
              <p:tags r:id="rId4"/>
            </p:custDataLst>
          </p:nvPr>
        </p:nvSpPr>
        <p:spPr>
          <a:xfrm>
            <a:off x="2277665" y="3635722"/>
            <a:ext cx="411643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>
            <p:custDataLst>
              <p:tags r:id="rId5"/>
            </p:custDataLst>
          </p:nvPr>
        </p:nvSpPr>
        <p:spPr>
          <a:xfrm>
            <a:off x="6394102" y="3635722"/>
            <a:ext cx="522639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>
            <p:custDataLst>
              <p:tags r:id="rId6"/>
            </p:custDataLst>
          </p:nvPr>
        </p:nvSpPr>
        <p:spPr>
          <a:xfrm>
            <a:off x="571500" y="4121497"/>
            <a:ext cx="1706165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>
            <p:custDataLst>
              <p:tags r:id="rId7"/>
            </p:custDataLst>
          </p:nvPr>
        </p:nvSpPr>
        <p:spPr>
          <a:xfrm>
            <a:off x="2277665" y="4121497"/>
            <a:ext cx="411643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>
            <p:custDataLst>
              <p:tags r:id="rId8"/>
            </p:custDataLst>
          </p:nvPr>
        </p:nvSpPr>
        <p:spPr>
          <a:xfrm>
            <a:off x="6394102" y="4121497"/>
            <a:ext cx="522639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>
            <p:custDataLst>
              <p:tags r:id="rId9"/>
            </p:custDataLst>
          </p:nvPr>
        </p:nvSpPr>
        <p:spPr>
          <a:xfrm>
            <a:off x="571500" y="4607272"/>
            <a:ext cx="1706165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>
            <p:custDataLst>
              <p:tags r:id="rId10"/>
            </p:custDataLst>
          </p:nvPr>
        </p:nvSpPr>
        <p:spPr>
          <a:xfrm>
            <a:off x="2277665" y="4607272"/>
            <a:ext cx="411643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>
            <p:custDataLst>
              <p:tags r:id="rId11"/>
            </p:custDataLst>
          </p:nvPr>
        </p:nvSpPr>
        <p:spPr>
          <a:xfrm>
            <a:off x="6394102" y="4607272"/>
            <a:ext cx="5226397" cy="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" name="Title 0"/>
          <p:cNvSpPr txBox="1">
            <a:spLocks noGrp="1"/>
          </p:cNvSpPr>
          <p:nvPr>
            <p:ph type="title" idx="2"/>
            <p:custDataLst>
              <p:tags r:id="rId12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UML Architecture Overview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ea typeface="+mn-ea"/>
              </a:rPr>
              <a:t>单击此处编辑母版文本样式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第二级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第三级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第四级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第五级</a:t>
            </a:r>
            <a:endParaRPr lang="en-US">
              <a:ea typeface="+mn-ea"/>
            </a:endParaRPr>
          </a:p>
        </p:txBody>
      </p:sp>
      <p:pic>
        <p:nvPicPr>
          <p:cNvPr id="212" name="Google Shape;212;p21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14192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381750" y="1419225"/>
            <a:ext cx="523875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08330" y="14382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>
            <p:custDataLst>
              <p:tags r:id="rId8"/>
            </p:custDataLst>
          </p:nvPr>
        </p:nvSpPr>
        <p:spPr>
          <a:xfrm>
            <a:off x="6677025" y="1714500"/>
            <a:ext cx="488061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Urbanist SemiBold"/>
                <a:sym typeface="Urbanist SemiBold"/>
              </a:rPr>
              <a:t>Operational Steps</a:t>
            </a:r>
            <a:endParaRPr lang="en-US" sz="21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216" name="Google Shape;216;p21"/>
          <p:cNvSpPr txBox="1"/>
          <p:nvPr>
            <p:custDataLst>
              <p:tags r:id="rId9"/>
            </p:custDataLst>
          </p:nvPr>
        </p:nvSpPr>
        <p:spPr>
          <a:xfrm>
            <a:off x="7105650" y="2209800"/>
            <a:ext cx="421957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Step 1: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Instantiate Course objects (C101, C102).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17" name="Google Shape;217;p21"/>
          <p:cNvSpPr txBox="1"/>
          <p:nvPr>
            <p:custDataLst>
              <p:tags r:id="rId10"/>
            </p:custDataLst>
          </p:nvPr>
        </p:nvSpPr>
        <p:spPr>
          <a:xfrm>
            <a:off x="7105650" y="3009900"/>
            <a:ext cx="42195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Step 2: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Call enroll(). Check for existing IDs.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18" name="Google Shape;218;p21"/>
          <p:cNvSpPr txBox="1"/>
          <p:nvPr>
            <p:custDataLst>
              <p:tags r:id="rId11"/>
            </p:custDataLst>
          </p:nvPr>
        </p:nvSpPr>
        <p:spPr>
          <a:xfrm>
            <a:off x="7105650" y="3514725"/>
            <a:ext cx="421957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Step 3: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Store reference in enrolledStudents[] array.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19" name="Google Shape;219;p21"/>
          <p:cNvSpPr txBox="1"/>
          <p:nvPr>
            <p:custDataLst>
              <p:tags r:id="rId12"/>
            </p:custDataLst>
          </p:nvPr>
        </p:nvSpPr>
        <p:spPr>
          <a:xfrm>
            <a:off x="7105650" y="4324350"/>
            <a:ext cx="421957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Step 4: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Update progressValues[] with range validation.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20" name="Google Shape;220;p21"/>
          <p:cNvSpPr txBox="1"/>
          <p:nvPr>
            <p:custDataLst>
              <p:tags r:id="rId13"/>
            </p:custDataLst>
          </p:nvPr>
        </p:nvSpPr>
        <p:spPr>
          <a:xfrm>
            <a:off x="7105650" y="5133975"/>
            <a:ext cx="421957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Step 5: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Generate formatted console reports for status check.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14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System Execution Flow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ea typeface="+mn-ea"/>
              </a:rPr>
              <a:t>单击此处编辑母版文本样式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第二级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第三级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第四级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第五级</a:t>
            </a:r>
            <a:endParaRPr lang="en-US">
              <a:ea typeface="+mn-ea"/>
            </a:endParaRPr>
          </a:p>
        </p:txBody>
      </p:sp>
      <p:pic>
        <p:nvPicPr>
          <p:cNvPr id="228" name="Google Shape;228;p22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656580" y="2627630"/>
            <a:ext cx="5901055" cy="2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>
            <p:custDataLst>
              <p:tags r:id="rId4"/>
            </p:custDataLst>
          </p:nvPr>
        </p:nvSpPr>
        <p:spPr>
          <a:xfrm>
            <a:off x="571500" y="2627411"/>
            <a:ext cx="523875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100%</a:t>
            </a:r>
            <a:endParaRPr lang="en-US" sz="9000" b="1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22"/>
          <p:cNvSpPr txBox="1"/>
          <p:nvPr>
            <p:custDataLst>
              <p:tags r:id="rId5"/>
            </p:custDataLst>
          </p:nvPr>
        </p:nvSpPr>
        <p:spPr>
          <a:xfrm>
            <a:off x="571500" y="3770411"/>
            <a:ext cx="52387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 SemiBold" panose="02000503000000020004"/>
                <a:sym typeface="Inter SemiBold" panose="02000503000000020004"/>
              </a:rPr>
              <a:t>Data Integrity</a:t>
            </a:r>
            <a:endParaRPr lang="en-US" sz="1800" b="0" i="0" u="none" strike="noStrike" cap="none">
              <a:solidFill>
                <a:schemeClr val="accent1"/>
              </a:solidFill>
              <a:latin typeface="+mn-lt"/>
              <a:ea typeface="+mn-ea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31" name="Google Shape;231;p22"/>
          <p:cNvSpPr txBox="1"/>
          <p:nvPr>
            <p:custDataLst>
              <p:tags r:id="rId6"/>
            </p:custDataLst>
          </p:nvPr>
        </p:nvSpPr>
        <p:spPr>
          <a:xfrm>
            <a:off x="571500" y="4141886"/>
            <a:ext cx="523875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Duplicate enrollments rejected by the system.</a:t>
            </a:r>
            <a:endParaRPr lang="en-US" sz="1200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22"/>
          <p:cNvSpPr txBox="1"/>
          <p:nvPr>
            <p:custDataLst>
              <p:tags r:id="rId7"/>
            </p:custDataLst>
          </p:nvPr>
        </p:nvSpPr>
        <p:spPr>
          <a:xfrm>
            <a:off x="6677025" y="2922686"/>
            <a:ext cx="488061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Urbanist SemiBold"/>
                <a:sym typeface="Urbanist SemiBold"/>
              </a:rPr>
              <a:t>Sample Console Log</a:t>
            </a:r>
            <a:endParaRPr lang="en-US" sz="2100" b="0" i="0" u="none" strike="noStrike" cap="none">
              <a:solidFill>
                <a:schemeClr val="accent1"/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8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Performance Metrics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071937"/>
            <a:ext cx="243066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3444180" y="4071937"/>
            <a:ext cx="243066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6316860" y="4071937"/>
            <a:ext cx="243066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9189541" y="4071937"/>
            <a:ext cx="243066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571500" y="4281487"/>
            <a:ext cx="11049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672530" y="3652837"/>
            <a:ext cx="2286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4545210" y="3652837"/>
            <a:ext cx="2286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417891" y="3652837"/>
            <a:ext cx="2286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10290571" y="3652837"/>
            <a:ext cx="2286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>
            <p:custDataLst>
              <p:tags r:id="rId9"/>
            </p:custDataLst>
          </p:nvPr>
        </p:nvSpPr>
        <p:spPr>
          <a:xfrm>
            <a:off x="1534417" y="4224337"/>
            <a:ext cx="5048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Week 1</a:t>
            </a:r>
            <a:endParaRPr lang="en-US" sz="1200" b="1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50" name="Google Shape;250;p23"/>
          <p:cNvSpPr txBox="1"/>
          <p:nvPr>
            <p:custDataLst>
              <p:tags r:id="rId10"/>
            </p:custDataLst>
          </p:nvPr>
        </p:nvSpPr>
        <p:spPr>
          <a:xfrm>
            <a:off x="4392810" y="4224337"/>
            <a:ext cx="5334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Week 2</a:t>
            </a:r>
            <a:endParaRPr lang="en-US" sz="1200" b="1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51" name="Google Shape;251;p23"/>
          <p:cNvSpPr txBox="1"/>
          <p:nvPr>
            <p:custDataLst>
              <p:tags r:id="rId11"/>
            </p:custDataLst>
          </p:nvPr>
        </p:nvSpPr>
        <p:spPr>
          <a:xfrm>
            <a:off x="7265491" y="4224337"/>
            <a:ext cx="5334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Week 3</a:t>
            </a:r>
            <a:endParaRPr lang="en-US" sz="1200" b="1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52" name="Google Shape;252;p23"/>
          <p:cNvSpPr txBox="1"/>
          <p:nvPr>
            <p:custDataLst>
              <p:tags r:id="rId12"/>
            </p:custDataLst>
          </p:nvPr>
        </p:nvSpPr>
        <p:spPr>
          <a:xfrm>
            <a:off x="10133409" y="4224337"/>
            <a:ext cx="5429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Week 4</a:t>
            </a:r>
            <a:endParaRPr lang="en-US" sz="1200" b="1" i="0" u="none" strike="noStrike" cap="none">
              <a:solidFill>
                <a:schemeClr val="bg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" name="Title 0"/>
          <p:cNvSpPr txBox="1">
            <a:spLocks noGrp="1"/>
          </p:cNvSpPr>
          <p:nvPr>
            <p:ph type="title" idx="2"/>
            <p:custDataLst>
              <p:tags r:id="rId13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Project Implementation Timeline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pic>
        <p:nvPicPr>
          <p:cNvPr id="260" name="Google Shape;260;p24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1804987"/>
            <a:ext cx="538162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238875" y="1804987"/>
            <a:ext cx="538162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>
            <p:custDataLst>
              <p:tags r:id="rId6"/>
            </p:custDataLst>
          </p:nvPr>
        </p:nvSpPr>
        <p:spPr>
          <a:xfrm>
            <a:off x="571500" y="5886450"/>
            <a:ext cx="11049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 SemiBold" panose="02000503000000020004"/>
                <a:sym typeface="Inter SemiBold" panose="02000503000000020004"/>
              </a:rPr>
              <a:t>|Thank You |</a:t>
            </a:r>
            <a:endParaRPr lang="en-US" sz="1500" b="0" i="0" u="none" strike="noStrike" cap="none">
              <a:solidFill>
                <a:schemeClr val="accent1"/>
              </a:solidFill>
              <a:latin typeface="+mn-lt"/>
              <a:ea typeface="+mn-ea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63" name="Google Shape;263;p24"/>
          <p:cNvSpPr txBox="1"/>
          <p:nvPr>
            <p:custDataLst>
              <p:tags r:id="rId7"/>
            </p:custDataLst>
          </p:nvPr>
        </p:nvSpPr>
        <p:spPr>
          <a:xfrm>
            <a:off x="933450" y="2100262"/>
            <a:ext cx="496062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Urbanist SemiBold"/>
                <a:sym typeface="Urbanist SemiBold"/>
              </a:rPr>
              <a:t>Project Summary</a:t>
            </a:r>
            <a:endParaRPr lang="en-US" sz="21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264" name="Google Shape;264;p24"/>
          <p:cNvSpPr txBox="1"/>
          <p:nvPr>
            <p:custDataLst>
              <p:tags r:id="rId8"/>
            </p:custDataLst>
          </p:nvPr>
        </p:nvSpPr>
        <p:spPr>
          <a:xfrm>
            <a:off x="933450" y="2614612"/>
            <a:ext cx="4724400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The Online Course Management System successfully demonstrates real-world entity modeling. By using fixed arrays and encapsulated logic, the system provides a robust framework for academic data management.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65" name="Google Shape;265;p24"/>
          <p:cNvSpPr txBox="1"/>
          <p:nvPr>
            <p:custDataLst>
              <p:tags r:id="rId9"/>
            </p:custDataLst>
          </p:nvPr>
        </p:nvSpPr>
        <p:spPr>
          <a:xfrm>
            <a:off x="6600825" y="2100262"/>
            <a:ext cx="496062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Urbanist SemiBold"/>
                <a:sym typeface="Urbanist SemiBold"/>
              </a:rPr>
              <a:t>Future Enhancements</a:t>
            </a:r>
            <a:endParaRPr lang="en-US" sz="21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Urbanist SemiBold"/>
              <a:sym typeface="Urbanist SemiBold"/>
            </a:endParaRPr>
          </a:p>
        </p:txBody>
      </p:sp>
      <p:sp>
        <p:nvSpPr>
          <p:cNvPr id="266" name="Google Shape;266;p24"/>
          <p:cNvSpPr txBox="1"/>
          <p:nvPr>
            <p:custDataLst>
              <p:tags r:id="rId10"/>
            </p:custDataLst>
          </p:nvPr>
        </p:nvSpPr>
        <p:spPr>
          <a:xfrm>
            <a:off x="7029450" y="2595562"/>
            <a:ext cx="42957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Use </a:t>
            </a:r>
            <a:r>
              <a:rPr lang="en-US" sz="1500" b="1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ArrayList</a:t>
            </a: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 for dynamic storage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67" name="Google Shape;267;p24"/>
          <p:cNvSpPr txBox="1"/>
          <p:nvPr>
            <p:custDataLst>
              <p:tags r:id="rId11"/>
            </p:custDataLst>
          </p:nvPr>
        </p:nvSpPr>
        <p:spPr>
          <a:xfrm>
            <a:off x="7029450" y="3090862"/>
            <a:ext cx="42957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Database persistence (MySQL/JDBC)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68" name="Google Shape;268;p24"/>
          <p:cNvSpPr txBox="1"/>
          <p:nvPr>
            <p:custDataLst>
              <p:tags r:id="rId12"/>
            </p:custDataLst>
          </p:nvPr>
        </p:nvSpPr>
        <p:spPr>
          <a:xfrm>
            <a:off x="7029450" y="3586162"/>
            <a:ext cx="42957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Graphical User Interface (Swing/JavaFX)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69" name="Google Shape;269;p24"/>
          <p:cNvSpPr txBox="1"/>
          <p:nvPr>
            <p:custDataLst>
              <p:tags r:id="rId13"/>
            </p:custDataLst>
          </p:nvPr>
        </p:nvSpPr>
        <p:spPr>
          <a:xfrm>
            <a:off x="7029450" y="4081462"/>
            <a:ext cx="42957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File I/O for persistent student records</a:t>
            </a:r>
            <a:endParaRPr lang="en-US" sz="1500" b="0" i="0" u="none" strike="noStrike" cap="non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70" name="Google Shape;270;p24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00825" y="2633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00825" y="3128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00825" y="3624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00825" y="41195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 txBox="1">
            <a:spLocks noGrp="1"/>
          </p:cNvSpPr>
          <p:nvPr>
            <p:ph type="title" idx="2"/>
            <p:custDataLst>
              <p:tags r:id="rId19"/>
            </p:custDataLst>
          </p:nvPr>
        </p:nvSpPr>
        <p:spPr>
          <a:xfrm>
            <a:off x="-298450" y="601345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Conclusion &amp; Future Path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>
            <p:custDataLst>
              <p:tags r:id="rId1"/>
            </p:custDataLst>
          </p:nvPr>
        </p:nvSpPr>
        <p:spPr>
          <a:xfrm>
            <a:off x="571500" y="225950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>
            <p:custDataLst>
              <p:tags r:id="rId2"/>
            </p:custDataLst>
          </p:nvPr>
        </p:nvSpPr>
        <p:spPr>
          <a:xfrm>
            <a:off x="571500" y="304427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>
            <p:custDataLst>
              <p:tags r:id="rId3"/>
            </p:custDataLst>
          </p:nvPr>
        </p:nvSpPr>
        <p:spPr>
          <a:xfrm>
            <a:off x="571500" y="38290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>
            <p:custDataLst>
              <p:tags r:id="rId4"/>
            </p:custDataLst>
          </p:nvPr>
        </p:nvSpPr>
        <p:spPr>
          <a:xfrm>
            <a:off x="571500" y="30347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30347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>
            <p:custDataLst>
              <p:tags r:id="rId5"/>
            </p:custDataLst>
          </p:nvPr>
        </p:nvSpPr>
        <p:spPr>
          <a:xfrm>
            <a:off x="571500" y="3819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3819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>
            <p:custDataLst>
              <p:tags r:id="rId6"/>
            </p:custDataLst>
          </p:nvPr>
        </p:nvSpPr>
        <p:spPr>
          <a:xfrm>
            <a:off x="571500" y="4604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4604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+mn-ea"/>
              <a:cs typeface="Calibri"/>
              <a:sym typeface="Calibri"/>
            </a:endParaRPr>
          </a:p>
        </p:txBody>
      </p:sp>
      <p:pic>
        <p:nvPicPr>
          <p:cNvPr id="290" name="Google Shape;290;p25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571500" y="240893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>
            <p:custDataLst>
              <p:tags r:id="rId9"/>
            </p:custDataLst>
          </p:nvPr>
        </p:nvSpPr>
        <p:spPr>
          <a:xfrm>
            <a:off x="1666875" y="2402383"/>
            <a:ext cx="9953625" cy="240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https://png.pngtree.com/thumb_back/fh260/background/20260501/pngtree-online-learning-platform-for-students-young-image_21774848.webp</a:t>
            </a:r>
            <a:endParaRPr lang="en-US" sz="975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92" name="Google Shape;292;p25"/>
          <p:cNvSpPr txBox="1"/>
          <p:nvPr>
            <p:custDataLst>
              <p:tags r:id="rId10"/>
            </p:custDataLst>
          </p:nvPr>
        </p:nvSpPr>
        <p:spPr>
          <a:xfrm>
            <a:off x="1666875" y="2648098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chemeClr val="accent1">
                    <a:hueOff val="960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pngtree.com</a:t>
            </a:r>
            <a:endParaRPr lang="en-US" sz="1200" b="0" i="0" u="none" strike="noStrike" cap="none">
              <a:solidFill>
                <a:schemeClr val="accent1">
                  <a:hueOff val="960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93" name="Google Shape;293;p25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571500" y="31937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>
            <p:custDataLst>
              <p:tags r:id="rId13"/>
            </p:custDataLst>
          </p:nvPr>
        </p:nvSpPr>
        <p:spPr>
          <a:xfrm>
            <a:off x="1666875" y="3187154"/>
            <a:ext cx="9953625" cy="240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https://png.pngtree.com/background/20250215/original/pngtree-abstract-modern-tech-of-programming-code-screen-developer-picture-image_15504908.jpg</a:t>
            </a:r>
            <a:endParaRPr lang="en-US" sz="975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95" name="Google Shape;295;p25"/>
          <p:cNvSpPr txBox="1"/>
          <p:nvPr>
            <p:custDataLst>
              <p:tags r:id="rId14"/>
            </p:custDataLst>
          </p:nvPr>
        </p:nvSpPr>
        <p:spPr>
          <a:xfrm>
            <a:off x="1666875" y="3432869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chemeClr val="accent1">
                    <a:hueOff val="960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pngtree.com</a:t>
            </a:r>
            <a:endParaRPr lang="en-US" sz="1200" b="0" i="0" u="none" strike="noStrike" cap="none">
              <a:solidFill>
                <a:schemeClr val="accent1">
                  <a:hueOff val="960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96" name="Google Shape;296;p25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571500" y="39784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>
            <p:custDataLst>
              <p:tags r:id="rId17"/>
            </p:custDataLst>
          </p:nvPr>
        </p:nvSpPr>
        <p:spPr>
          <a:xfrm>
            <a:off x="1666875" y="3971925"/>
            <a:ext cx="9953625" cy="240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https://assets.visme.co/templates/blockinfographics/fullsize/i_Software-Development-Life-Cycle_full.jpg</a:t>
            </a:r>
            <a:endParaRPr lang="en-US" sz="975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298" name="Google Shape;298;p25"/>
          <p:cNvSpPr txBox="1"/>
          <p:nvPr>
            <p:custDataLst>
              <p:tags r:id="rId18"/>
            </p:custDataLst>
          </p:nvPr>
        </p:nvSpPr>
        <p:spPr>
          <a:xfrm>
            <a:off x="1666875" y="4217640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chemeClr val="accent1">
                    <a:hueOff val="960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www.visme.co</a:t>
            </a:r>
            <a:endParaRPr lang="en-US" sz="1200" b="0" i="0" u="none" strike="noStrike" cap="none">
              <a:solidFill>
                <a:schemeClr val="accent1">
                  <a:hueOff val="960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99" name="Google Shape;299;p25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20"/>
          <a:srcRect/>
          <a:stretch>
            <a:fillRect/>
          </a:stretch>
        </p:blipFill>
        <p:spPr>
          <a:xfrm>
            <a:off x="571500" y="47632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>
            <p:custDataLst>
              <p:tags r:id="rId21"/>
            </p:custDataLst>
          </p:nvPr>
        </p:nvSpPr>
        <p:spPr>
          <a:xfrm>
            <a:off x="1666875" y="4756695"/>
            <a:ext cx="9953625" cy="240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https://conceptviz.app/images/tools/ai-flowchart-generator/data-processing-pipeline.webp</a:t>
            </a:r>
            <a:endParaRPr lang="en-US" sz="975" b="0" i="0" u="none" strike="noStrike" cap="none">
              <a:solidFill>
                <a:schemeClr val="accent1"/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301" name="Google Shape;301;p25"/>
          <p:cNvSpPr txBox="1"/>
          <p:nvPr>
            <p:custDataLst>
              <p:tags r:id="rId22"/>
            </p:custDataLst>
          </p:nvPr>
        </p:nvSpPr>
        <p:spPr>
          <a:xfrm>
            <a:off x="1666875" y="5002410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chemeClr val="accent1">
                    <a:hueOff val="9600000"/>
                  </a:schemeClr>
                </a:solidFill>
                <a:latin typeface="+mn-lt"/>
                <a:ea typeface="+mn-ea"/>
                <a:cs typeface="Inter" panose="02000503000000020004"/>
                <a:sym typeface="Inter" panose="02000503000000020004"/>
              </a:rPr>
              <a:t>conceptviz.app</a:t>
            </a:r>
            <a:endParaRPr lang="en-US" sz="1200" b="0" i="0" u="none" strike="noStrike" cap="none">
              <a:solidFill>
                <a:schemeClr val="accent1">
                  <a:hueOff val="9600000"/>
                </a:schemeClr>
              </a:solidFill>
              <a:latin typeface="+mn-lt"/>
              <a:ea typeface="+mn-ea"/>
              <a:cs typeface="Inter" panose="02000503000000020004"/>
              <a:sym typeface="Inter" panose="02000503000000020004"/>
            </a:endParaRPr>
          </a:p>
        </p:txBody>
      </p:sp>
      <p:sp>
        <p:nvSpPr>
          <p:cNvPr id="1" name="Title 0"/>
          <p:cNvSpPr txBox="1">
            <a:spLocks noGrp="1"/>
          </p:cNvSpPr>
          <p:nvPr>
            <p:ph type="title" idx="2"/>
            <p:custDataLst>
              <p:tags r:id="rId23"/>
            </p:custDataLst>
          </p:nvPr>
        </p:nvSpPr>
        <p:spPr>
          <a:xfrm>
            <a:off x="762000" y="571500"/>
            <a:ext cx="13182898" cy="50736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Image Sources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&#10;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输入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05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05"/>
</p:tagLst>
</file>

<file path=ppt/tags/tag9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5"/>
</p:tagLst>
</file>

<file path=ppt/tags/tag9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9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5_1*a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SPECIAL_SOURCE" val="bdnull"/>
  <p:tag name="KSO_WM_SLIDE_CONTENT_AREA" val="{&quot;left&quot;:&quot;195.5&quot;,&quot;top&quot;:&quot;83.9&quot;,&quot;width&quot;:&quot;570.55&quot;,&quot;height&quot;:&quot;279.45&quot;}"/>
  <p:tag name="KSO_WM_TEMPLATE_THUMBS_INDEX" val="1、9"/>
  <p:tag name="KSO_WM_SLIDE_ID" val="custom20233405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5"/>
  <p:tag name="KSO_WM_SLIDE_LAYOUT" val="a_b_f"/>
  <p:tag name="KSO_WM_SLIDE_LAYOUT_CNT" val="1_1_1"/>
  <p:tag name="KSO_WM_SLIDE_THEME_ID" val="3302860"/>
  <p:tag name="KSO_WM_SLIDE_THEME_NAME" val="Purple Technology"/>
</p:tagLst>
</file>

<file path=ppt/tags/tag9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0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UNIT_INDEX" val="8"/>
  <p:tag name="KSO_WM_UNIT_TYPE" val="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10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105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106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07.xml><?xml version="1.0" encoding="utf-8"?>
<p:tagLst xmlns:p="http://schemas.openxmlformats.org/presentationml/2006/main">
  <p:tag name="KSO_WM_UNIT_INDEX" val="1_1_2"/>
  <p:tag name="KSO_WM_UNIT_TYPE" val="l_h_j"/>
  <p:tag name="KSO_WM_TEMPLATE_CATEGORY" val="diagram"/>
  <p:tag name="KSO_WM_TEMPLATE_INDEX" val="19882022"/>
  <p:tag name="KSO_WM_UNIT_ID" val="diagram19882022*l_h_j*1_1_2"/>
  <p:tag name="KSO_WM_DIAGRAM_GROUP_CODE" val="l1-1"/>
  <p:tag name="KSO_WM_TAG_VERSION" val="2.0"/>
  <p:tag name="KSO_WM_BEAUTIFY_FLAG" val="#wm#"/>
</p:tagLst>
</file>

<file path=ppt/tags/tag108.xml><?xml version="1.0" encoding="utf-8"?>
<p:tagLst xmlns:p="http://schemas.openxmlformats.org/presentationml/2006/main">
  <p:tag name="KSO_WM_UNIT_INDEX" val="1_2_2"/>
  <p:tag name="KSO_WM_UNIT_TYPE" val="l_h_j"/>
  <p:tag name="KSO_WM_TEMPLATE_CATEGORY" val="diagram"/>
  <p:tag name="KSO_WM_TEMPLATE_INDEX" val="19882022"/>
  <p:tag name="KSO_WM_UNIT_ID" val="diagram19882022*l_h_j*1_2_2"/>
  <p:tag name="KSO_WM_DIAGRAM_GROUP_CODE" val="l1-1"/>
  <p:tag name="KSO_WM_TAG_VERSION" val="2.0"/>
  <p:tag name="KSO_WM_BEAUTIFY_FLAG" val="#wm#"/>
</p:tagLst>
</file>

<file path=ppt/tags/tag109.xml><?xml version="1.0" encoding="utf-8"?>
<p:tagLst xmlns:p="http://schemas.openxmlformats.org/presentationml/2006/main">
  <p:tag name="KSO_WM_UNIT_INDEX" val="1_3_2"/>
  <p:tag name="KSO_WM_UNIT_TYPE" val="l_h_j"/>
  <p:tag name="KSO_WM_TEMPLATE_CATEGORY" val="diagram"/>
  <p:tag name="KSO_WM_TEMPLATE_INDEX" val="19882022"/>
  <p:tag name="KSO_WM_UNIT_ID" val="diagram19882022*l_h_j*1_3_2"/>
  <p:tag name="KSO_WM_DIAGRAM_GROUP_CODE" val="l1-1"/>
  <p:tag name="KSO_WM_TAG_VERSION" val="2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SLIDE_TYPE" val="text"/>
  <p:tag name="KSO_WM_BEAUTIFY_FLAG" val="#wm#"/>
</p:tagLst>
</file>

<file path=ppt/tags/tag11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1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15.xml><?xml version="1.0" encoding="utf-8"?>
<p:tagLst xmlns:p="http://schemas.openxmlformats.org/presentationml/2006/main">
  <p:tag name="KSO_WM_UNIT_INDEX" val="6"/>
  <p:tag name="KSO_WM_UNIT_TYPE" val="a"/>
  <p:tag name="KSO_WM_BEAUTIFY_FLAG" val="#wm#"/>
</p:tagLst>
</file>

<file path=ppt/tags/tag11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2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124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125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126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127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128.xml><?xml version="1.0" encoding="utf-8"?>
<p:tagLst xmlns:p="http://schemas.openxmlformats.org/presentationml/2006/main">
  <p:tag name="KSO_WM_UNIT_TEXT" val="Executive Abstrac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29.xml><?xml version="1.0" encoding="utf-8"?>
<p:tagLst xmlns:p="http://schemas.openxmlformats.org/presentationml/2006/main">
  <p:tag name="KSO_WM_SLIDE_TYPE" val="text"/>
  <p:tag name="KSO_WM_BEAUTIFY_FLAG" val="#wm#"/>
</p:tagLst>
</file>

<file path=ppt/tags/tag13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35.xml><?xml version="1.0" encoding="utf-8"?>
<p:tagLst xmlns:p="http://schemas.openxmlformats.org/presentationml/2006/main">
  <p:tag name="KSO_WM_UNIT_TEXT" val="System Introduction &amp; Goal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SLIDE_TYPE" val="text"/>
  <p:tag name="KSO_WM_BEAUTIFY_FLAG" val="#wm#"/>
</p:tagLst>
</file>

<file path=ppt/tags/tag137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UNIT_ID" val="diagram19882022*l_h_j*1_1_1"/>
  <p:tag name="KSO_WM_DIAGRAM_GROUP_CODE" val="l1-1"/>
  <p:tag name="KSO_WM_TAG_VERSION" val="2.0"/>
  <p:tag name="KSO_WM_BEAUTIFY_FLAG" val="#wm#"/>
</p:tagLst>
</file>

<file path=ppt/tags/tag138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UNIT_ID" val="diagram19882022*l_h_j*1_2_1"/>
  <p:tag name="KSO_WM_DIAGRAM_GROUP_CODE" val="l1-1"/>
  <p:tag name="KSO_WM_TAG_VERSION" val="2.0"/>
  <p:tag name="KSO_WM_BEAUTIFY_FLAG" val="#wm#"/>
</p:tagLst>
</file>

<file path=ppt/tags/tag139.xml><?xml version="1.0" encoding="utf-8"?>
<p:tagLst xmlns:p="http://schemas.openxmlformats.org/presentationml/2006/main">
  <p:tag name="KSO_WM_UNIT_INDEX" val="1_1_2"/>
  <p:tag name="KSO_WM_UNIT_TYPE" val="l_h_j"/>
  <p:tag name="KSO_WM_TEMPLATE_CATEGORY" val="diagram"/>
  <p:tag name="KSO_WM_TEMPLATE_INDEX" val="19882022"/>
  <p:tag name="KSO_WM_UNIT_ID" val="diagram19882022*l_h_j*1_1_2"/>
  <p:tag name="KSO_WM_DIAGRAM_GROUP_CODE" val="l1-1"/>
  <p:tag name="KSO_WM_TAG_VERSION" val="2.0"/>
  <p:tag name="KSO_WM_BEAUTIFY_FLAG" val="#wm#"/>
</p:tagLst>
</file>

<file path=ppt/tags/tag140.xml><?xml version="1.0" encoding="utf-8"?>
<p:tagLst xmlns:p="http://schemas.openxmlformats.org/presentationml/2006/main">
  <p:tag name="KSO_WM_UNIT_INDEX" val="1_1_3"/>
  <p:tag name="KSO_WM_UNIT_TYPE" val="l_h_a"/>
  <p:tag name="KSO_WM_TEMPLATE_CATEGORY" val="diagram"/>
  <p:tag name="KSO_WM_TEMPLATE_INDEX" val="19882022"/>
  <p:tag name="KSO_WM_UNIT_ID" val="diagram19882022*l_h_a*1_1_3"/>
  <p:tag name="KSO_WM_DIAGRAM_GROUP_CODE" val="l1-1"/>
  <p:tag name="KSO_WM_TAG_VERSION" val="2.0"/>
  <p:tag name="KSO_WM_BEAUTIFY_FLAG" val="#wm#"/>
</p:tagLst>
</file>

<file path=ppt/tags/tag141.xml><?xml version="1.0" encoding="utf-8"?>
<p:tagLst xmlns:p="http://schemas.openxmlformats.org/presentationml/2006/main">
  <p:tag name="KSO_WM_UNIT_INDEX" val="1_2_2"/>
  <p:tag name="KSO_WM_UNIT_TYPE" val="l_h_j"/>
  <p:tag name="KSO_WM_TEMPLATE_CATEGORY" val="diagram"/>
  <p:tag name="KSO_WM_TEMPLATE_INDEX" val="19882022"/>
  <p:tag name="KSO_WM_UNIT_ID" val="diagram19882022*l_h_j*1_2_2"/>
  <p:tag name="KSO_WM_DIAGRAM_GROUP_CODE" val="l1-1"/>
  <p:tag name="KSO_WM_TAG_VERSION" val="2.0"/>
  <p:tag name="KSO_WM_BEAUTIFY_FLAG" val="#wm#"/>
</p:tagLst>
</file>

<file path=ppt/tags/tag142.xml><?xml version="1.0" encoding="utf-8"?>
<p:tagLst xmlns:p="http://schemas.openxmlformats.org/presentationml/2006/main">
  <p:tag name="KSO_WM_UNIT_INDEX" val="1_2_3"/>
  <p:tag name="KSO_WM_UNIT_TYPE" val="l_h_a"/>
  <p:tag name="KSO_WM_TEMPLATE_CATEGORY" val="diagram"/>
  <p:tag name="KSO_WM_TEMPLATE_INDEX" val="19882022"/>
  <p:tag name="KSO_WM_UNIT_ID" val="diagram19882022*l_h_a*1_2_3"/>
  <p:tag name="KSO_WM_DIAGRAM_GROUP_CODE" val="l1-1"/>
  <p:tag name="KSO_WM_TAG_VERSION" val="2.0"/>
  <p:tag name="KSO_WM_BEAUTIFY_FLAG" val="#wm#"/>
</p:tagLst>
</file>

<file path=ppt/tags/tag143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144.xml><?xml version="1.0" encoding="utf-8"?>
<p:tagLst xmlns:p="http://schemas.openxmlformats.org/presentationml/2006/main">
  <p:tag name="KSO_WM_UNIT_INDEX" val="1_1_6"/>
  <p:tag name="KSO_WM_UNIT_TYPE" val="l_h_f"/>
  <p:tag name="KSO_WM_UNIT_SUBTYPE" val="a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</p:tagLst>
</file>

<file path=ppt/tags/tag145.xml><?xml version="1.0" encoding="utf-8"?>
<p:tagLst xmlns:p="http://schemas.openxmlformats.org/presentationml/2006/main">
  <p:tag name="KSO_WM_UNIT_INDEX" val="1_1_8"/>
  <p:tag name="KSO_WM_UNIT_TYPE" val="l_h_f"/>
  <p:tag name="KSO_WM_UNIT_SUBTYPE" val="a"/>
  <p:tag name="KSO_WM_TEMPLATE_CATEGORY" val="diagram"/>
  <p:tag name="KSO_WM_TEMPLATE_INDEX" val="19882022"/>
  <p:tag name="KSO_WM_UNIT_ID" val="diagram19882022*l_h_f*1_1_8"/>
  <p:tag name="KSO_WM_DIAGRAM_GROUP_CODE" val="l1-1"/>
  <p:tag name="KSO_WM_TAG_VERSION" val="2.0"/>
  <p:tag name="KSO_WM_BEAUTIFY_FLAG" val="#wm#"/>
</p:tagLst>
</file>

<file path=ppt/tags/tag146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147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</p:tagLst>
</file>

<file path=ppt/tags/tag148.xml><?xml version="1.0" encoding="utf-8"?>
<p:tagLst xmlns:p="http://schemas.openxmlformats.org/presentationml/2006/main">
  <p:tag name="KSO_WM_UNIT_INDEX" val="1_2_8"/>
  <p:tag name="KSO_WM_UNIT_TYPE" val="l_h_f"/>
  <p:tag name="KSO_WM_UNIT_SUBTYPE" val="a"/>
  <p:tag name="KSO_WM_TEMPLATE_CATEGORY" val="diagram"/>
  <p:tag name="KSO_WM_TEMPLATE_INDEX" val="19882022"/>
  <p:tag name="KSO_WM_UNIT_ID" val="diagram19882022*l_h_f*1_2_8"/>
  <p:tag name="KSO_WM_DIAGRAM_GROUP_CODE" val="l1-1"/>
  <p:tag name="KSO_WM_TAG_VERSION" val="2.0"/>
  <p:tag name="KSO_WM_BEAUTIFY_FLAG" val="#wm#"/>
</p:tagLst>
</file>

<file path=ppt/tags/tag149.xml><?xml version="1.0" encoding="utf-8"?>
<p:tagLst xmlns:p="http://schemas.openxmlformats.org/presentationml/2006/main">
  <p:tag name="KSO_WM_UNIT_INDEX" val="1_1_5"/>
  <p:tag name="KSO_WM_UNIT_TYPE" val="l_h_j"/>
  <p:tag name="KSO_WM_TEMPLATE_CATEGORY" val="diagram"/>
  <p:tag name="KSO_WM_TEMPLATE_INDEX" val="19882022"/>
  <p:tag name="KSO_WM_UNIT_ID" val="diagram19882022*l_h_j*1_1_5"/>
  <p:tag name="KSO_WM_DIAGRAM_GROUP_CODE" val="l1-1"/>
  <p:tag name="KSO_WM_TAG_VERSION" val="2.0"/>
  <p:tag name="KSO_WM_BEAUTIFY_FLAG" val="#wm#"/>
</p:tagLst>
</file>

<file path=ppt/tags/tag150.xml><?xml version="1.0" encoding="utf-8"?>
<p:tagLst xmlns:p="http://schemas.openxmlformats.org/presentationml/2006/main">
  <p:tag name="KSO_WM_UNIT_INDEX" val="1_1_7"/>
  <p:tag name="KSO_WM_UNIT_TYPE" val="l_h_j"/>
  <p:tag name="KSO_WM_TEMPLATE_CATEGORY" val="diagram"/>
  <p:tag name="KSO_WM_TEMPLATE_INDEX" val="19882022"/>
  <p:tag name="KSO_WM_UNIT_ID" val="diagram19882022*l_h_j*1_1_7"/>
  <p:tag name="KSO_WM_DIAGRAM_GROUP_CODE" val="l1-1"/>
  <p:tag name="KSO_WM_TAG_VERSION" val="2.0"/>
  <p:tag name="KSO_WM_BEAUTIFY_FLAG" val="#wm#"/>
</p:tagLst>
</file>

<file path=ppt/tags/tag151.xml><?xml version="1.0" encoding="utf-8"?>
<p:tagLst xmlns:p="http://schemas.openxmlformats.org/presentationml/2006/main">
  <p:tag name="KSO_WM_UNIT_INDEX" val="1_1_9"/>
  <p:tag name="KSO_WM_UNIT_TYPE" val="l_h_j"/>
  <p:tag name="KSO_WM_TEMPLATE_CATEGORY" val="diagram"/>
  <p:tag name="KSO_WM_TEMPLATE_INDEX" val="19882022"/>
  <p:tag name="KSO_WM_UNIT_ID" val="diagram19882022*l_h_j*1_1_9"/>
  <p:tag name="KSO_WM_DIAGRAM_GROUP_CODE" val="l1-1"/>
  <p:tag name="KSO_WM_TAG_VERSION" val="2.0"/>
  <p:tag name="KSO_WM_BEAUTIFY_FLAG" val="#wm#"/>
</p:tagLst>
</file>

<file path=ppt/tags/tag152.xml><?xml version="1.0" encoding="utf-8"?>
<p:tagLst xmlns:p="http://schemas.openxmlformats.org/presentationml/2006/main">
  <p:tag name="KSO_WM_UNIT_INDEX" val="1_2_5"/>
  <p:tag name="KSO_WM_UNIT_TYPE" val="l_h_j"/>
  <p:tag name="KSO_WM_TEMPLATE_CATEGORY" val="diagram"/>
  <p:tag name="KSO_WM_TEMPLATE_INDEX" val="19882022"/>
  <p:tag name="KSO_WM_UNIT_ID" val="diagram19882022*l_h_j*1_2_5"/>
  <p:tag name="KSO_WM_DIAGRAM_GROUP_CODE" val="l1-1"/>
  <p:tag name="KSO_WM_TAG_VERSION" val="2.0"/>
  <p:tag name="KSO_WM_BEAUTIFY_FLAG" val="#wm#"/>
</p:tagLst>
</file>

<file path=ppt/tags/tag153.xml><?xml version="1.0" encoding="utf-8"?>
<p:tagLst xmlns:p="http://schemas.openxmlformats.org/presentationml/2006/main">
  <p:tag name="KSO_WM_UNIT_INDEX" val="1_2_7"/>
  <p:tag name="KSO_WM_UNIT_TYPE" val="l_h_j"/>
  <p:tag name="KSO_WM_TEMPLATE_CATEGORY" val="diagram"/>
  <p:tag name="KSO_WM_TEMPLATE_INDEX" val="19882022"/>
  <p:tag name="KSO_WM_UNIT_ID" val="diagram19882022*l_h_j*1_2_7"/>
  <p:tag name="KSO_WM_DIAGRAM_GROUP_CODE" val="l1-1"/>
  <p:tag name="KSO_WM_TAG_VERSION" val="2.0"/>
  <p:tag name="KSO_WM_BEAUTIFY_FLAG" val="#wm#"/>
</p:tagLst>
</file>

<file path=ppt/tags/tag154.xml><?xml version="1.0" encoding="utf-8"?>
<p:tagLst xmlns:p="http://schemas.openxmlformats.org/presentationml/2006/main">
  <p:tag name="KSO_WM_UNIT_INDEX" val="1_2_9"/>
  <p:tag name="KSO_WM_UNIT_TYPE" val="l_h_j"/>
  <p:tag name="KSO_WM_TEMPLATE_CATEGORY" val="diagram"/>
  <p:tag name="KSO_WM_TEMPLATE_INDEX" val="19882022"/>
  <p:tag name="KSO_WM_UNIT_ID" val="diagram19882022*l_h_j*1_2_9"/>
  <p:tag name="KSO_WM_DIAGRAM_GROUP_CODE" val="l1-1"/>
  <p:tag name="KSO_WM_TAG_VERSION" val="2.0"/>
  <p:tag name="KSO_WM_BEAUTIFY_FLAG" val="#wm#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SLIDE_TYPE" val="text"/>
  <p:tag name="KSO_WM_BEAUTIFY_FLAG" val="#wm#"/>
</p:tagLst>
</file>

<file path=ppt/tags/tag157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5_7*e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5_7*a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SPECIAL_SOURCE" val="bdnull"/>
  <p:tag name="KSO_WM_SLIDE_CONTENT_AREA" val="{&quot;left&quot;:&quot;36.1&quot;,&quot;top&quot;:&quot;87.2&quot;,&quot;width&quot;:&quot;531.65&quot;,&quot;height&quot;:&quot;365.6&quot;}"/>
  <p:tag name="KSO_WM_SLIDE_ID" val="custom20233405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05"/>
  <p:tag name="KSO_WM_SLIDE_LAYOUT" val="a_e"/>
  <p:tag name="KSO_WM_SLIDE_LAYOUT_CNT" val="1_1"/>
  <p:tag name="KSO_WM_SLIDE_THEME_ID" val="3302860"/>
  <p:tag name="KSO_WM_SLIDE_THEME_NAME" val="Purple Technology"/>
</p:tagLst>
</file>

<file path=ppt/tags/tag16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62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6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67.xml><?xml version="1.0" encoding="utf-8"?>
<p:tagLst xmlns:p="http://schemas.openxmlformats.org/presentationml/2006/main">
  <p:tag name="KSO_WM_UNIT_TEXT" val="Project Scop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68.xml><?xml version="1.0" encoding="utf-8"?>
<p:tagLst xmlns:p="http://schemas.openxmlformats.org/presentationml/2006/main">
  <p:tag name="KSO_WM_SLIDE_TYPE" val="text"/>
  <p:tag name="KSO_WM_BEAUTIFY_FLAG" val="#wm#"/>
</p:tagLst>
</file>

<file path=ppt/tags/tag169.xml><?xml version="1.0" encoding="utf-8"?>
<p:tagLst xmlns:p="http://schemas.openxmlformats.org/presentationml/2006/main">
  <p:tag name="KSO_WM_UNIT_INDEX" val="4"/>
  <p:tag name="KSO_WM_UNIT_TYPE" val="β"/>
  <p:tag name="KSO_WM_BEAUTIFY_FLAG" val="#wm#"/>
</p:tagLst>
</file>

<file path=ppt/tags/tag170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7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7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74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75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76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7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78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179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80.xml><?xml version="1.0" encoding="utf-8"?>
<p:tagLst xmlns:p="http://schemas.openxmlformats.org/presentationml/2006/main">
  <p:tag name="KSO_WM_UNIT_TEXT" val="Technical Specific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81.xml><?xml version="1.0" encoding="utf-8"?>
<p:tagLst xmlns:p="http://schemas.openxmlformats.org/presentationml/2006/main">
  <p:tag name="KSO_WM_SLIDE_TYPE" val="text"/>
  <p:tag name="KSO_WM_BEAUTIFY_FLAG" val="#wm#"/>
</p:tagLst>
</file>

<file path=ppt/tags/tag18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8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85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18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8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8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2.xml><?xml version="1.0" encoding="utf-8"?>
<p:tagLst xmlns:p="http://schemas.openxmlformats.org/presentationml/2006/main">
  <p:tag name="KSO_WM_UNIT_TEXT" val="Development Methodolog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93.xml><?xml version="1.0" encoding="utf-8"?>
<p:tagLst xmlns:p="http://schemas.openxmlformats.org/presentationml/2006/main">
  <p:tag name="KSO_WM_SLIDE_TYPE" val="text"/>
  <p:tag name="KSO_WM_BEAUTIFY_FLAG" val="#wm#"/>
</p:tagLst>
</file>

<file path=ppt/tags/tag19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9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TEXT" val="System Execution Flo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201.xml><?xml version="1.0" encoding="utf-8"?>
<p:tagLst xmlns:p="http://schemas.openxmlformats.org/presentationml/2006/main">
  <p:tag name="KSO_WM_SLIDE_TYPE" val="text"/>
  <p:tag name="KSO_WM_BEAUTIFY_FLAG" val="#wm#"/>
</p:tagLst>
</file>

<file path=ppt/tags/tag202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UNIT_ID" val="diagram19882022*l_h_j*1_1_1"/>
  <p:tag name="KSO_WM_DIAGRAM_GROUP_CODE" val="l1-1"/>
  <p:tag name="KSO_WM_TAG_VERSION" val="2.0"/>
  <p:tag name="KSO_WM_BEAUTIFY_FLAG" val="#wm#"/>
</p:tagLst>
</file>

<file path=ppt/tags/tag203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UNIT_ID" val="diagram19882022*l_h_j*1_2_1"/>
  <p:tag name="KSO_WM_DIAGRAM_GROUP_CODE" val="l1-1"/>
  <p:tag name="KSO_WM_TAG_VERSION" val="2.0"/>
  <p:tag name="KSO_WM_BEAUTIFY_FLAG" val="#wm#"/>
</p:tagLst>
</file>

<file path=ppt/tags/tag204.xml><?xml version="1.0" encoding="utf-8"?>
<p:tagLst xmlns:p="http://schemas.openxmlformats.org/presentationml/2006/main">
  <p:tag name="KSO_WM_UNIT_INDEX" val="1_3_1"/>
  <p:tag name="KSO_WM_UNIT_TYPE" val="l_h_j"/>
  <p:tag name="KSO_WM_TEMPLATE_CATEGORY" val="diagram"/>
  <p:tag name="KSO_WM_TEMPLATE_INDEX" val="19882022"/>
  <p:tag name="KSO_WM_UNIT_ID" val="diagram19882022*l_h_j*1_3_1"/>
  <p:tag name="KSO_WM_DIAGRAM_GROUP_CODE" val="l1-1"/>
  <p:tag name="KSO_WM_TAG_VERSION" val="2.0"/>
  <p:tag name="KSO_WM_BEAUTIFY_FLAG" val="#wm#"/>
</p:tagLst>
</file>

<file path=ppt/tags/tag205.xml><?xml version="1.0" encoding="utf-8"?>
<p:tagLst xmlns:p="http://schemas.openxmlformats.org/presentationml/2006/main">
  <p:tag name="KSO_WM_UNIT_INDEX" val="1_4_1"/>
  <p:tag name="KSO_WM_UNIT_TYPE" val="l_h_j"/>
  <p:tag name="KSO_WM_TEMPLATE_CATEGORY" val="diagram"/>
  <p:tag name="KSO_WM_TEMPLATE_INDEX" val="19882022"/>
  <p:tag name="KSO_WM_UNIT_ID" val="diagram19882022*l_h_j*1_4_1"/>
  <p:tag name="KSO_WM_DIAGRAM_GROUP_CODE" val="l1-1"/>
  <p:tag name="KSO_WM_TAG_VERSION" val="2.0"/>
  <p:tag name="KSO_WM_BEAUTIFY_FLAG" val="#wm#"/>
</p:tagLst>
</file>

<file path=ppt/tags/tag206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0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0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209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210.xml><?xml version="1.0" encoding="utf-8"?>
<p:tagLst xmlns:p="http://schemas.openxmlformats.org/presentationml/2006/main">
  <p:tag name="KSO_WM_UNIT_TEXT" val="UML Architecture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11.xml><?xml version="1.0" encoding="utf-8"?>
<p:tagLst xmlns:p="http://schemas.openxmlformats.org/presentationml/2006/main">
  <p:tag name="KSO_WM_SLIDE_TYPE" val="text"/>
  <p:tag name="KSO_WM_BEAUTIFY_FLAG" val="#wm#"/>
</p:tagLst>
</file>

<file path=ppt/tags/tag21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21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15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1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224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225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226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227.xml><?xml version="1.0" encoding="utf-8"?>
<p:tagLst xmlns:p="http://schemas.openxmlformats.org/presentationml/2006/main">
  <p:tag name="KSO_WM_UNIT_TEXT" val="Performance Metric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228.xml><?xml version="1.0" encoding="utf-8"?>
<p:tagLst xmlns:p="http://schemas.openxmlformats.org/presentationml/2006/main">
  <p:tag name="KSO_WM_SLIDE_TYPE" val="text"/>
  <p:tag name="KSO_WM_BEAUTIFY_FLAG" val="#wm#"/>
</p:tagLst>
</file>

<file path=ppt/tags/tag22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30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31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32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33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34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35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36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38.xml><?xml version="1.0" encoding="utf-8"?>
<p:tagLst xmlns:p="http://schemas.openxmlformats.org/presentationml/2006/main">
  <p:tag name="KSO_WM_UNIT_INDEX" val="9"/>
  <p:tag name="KSO_WM_UNIT_TYPE" val="j"/>
  <p:tag name="KSO_WM_BEAUTIFY_FLAG" val="#wm#"/>
</p:tagLst>
</file>

<file path=ppt/tags/tag239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4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242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245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46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47.xml><?xml version="1.0" encoding="utf-8"?>
<p:tagLst xmlns:p="http://schemas.openxmlformats.org/presentationml/2006/main">
  <p:tag name="KSO_WM_UNIT_TEXT" val="Project Implementation Timel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48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5">
      <a:dk1>
        <a:srgbClr val="000000"/>
      </a:dk1>
      <a:lt1>
        <a:srgbClr val="FFFFFF"/>
      </a:lt1>
      <a:dk2>
        <a:srgbClr val="001A54"/>
      </a:dk2>
      <a:lt2>
        <a:srgbClr val="D4E1FE"/>
      </a:lt2>
      <a:accent1>
        <a:srgbClr val="6292FB"/>
      </a:accent1>
      <a:accent2>
        <a:srgbClr val="F43AA9"/>
      </a:accent2>
      <a:accent3>
        <a:srgbClr val="5364E3"/>
      </a:accent3>
      <a:accent4>
        <a:srgbClr val="6243D1"/>
      </a:accent4>
      <a:accent5>
        <a:srgbClr val="9340C3"/>
      </a:accent5>
      <a:accent6>
        <a:srgbClr val="C33DB6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4044</Words>
  <Application>WPS Docs</Application>
  <PresentationFormat/>
  <Paragraphs>198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Helvetica Neue</vt:lpstr>
      <vt:lpstr>Inter</vt:lpstr>
      <vt:lpstr>Urbanist</vt:lpstr>
      <vt:lpstr>Inter SemiBold</vt:lpstr>
      <vt:lpstr>Urbanist SemiBold</vt:lpstr>
      <vt:lpstr>Microsoft YaHei</vt:lpstr>
      <vt:lpstr>汉仪旗黑</vt:lpstr>
      <vt:lpstr>Arial Unicode MS</vt:lpstr>
      <vt:lpstr>Calibri Light</vt:lpstr>
      <vt:lpstr>Inter</vt:lpstr>
      <vt:lpstr>SimSun</vt:lpstr>
      <vt:lpstr>宋体-简</vt:lpstr>
      <vt:lpstr>Urbanist</vt:lpstr>
      <vt:lpstr>Urbanist SemiBold</vt:lpstr>
      <vt:lpstr>Wingdings</vt:lpstr>
      <vt:lpstr>Manrope ExtraBold</vt:lpstr>
      <vt:lpstr>苹方-简</vt:lpstr>
      <vt:lpstr>Lato</vt:lpstr>
      <vt:lpstr>Office Theme</vt:lpstr>
      <vt:lpstr>1_Office Theme</vt:lpstr>
      <vt:lpstr>Rutba Khatun</vt:lpstr>
      <vt:lpstr>PowerPoint 演示文稿</vt:lpstr>
      <vt:lpstr>PowerPoint 演示文稿</vt:lpstr>
      <vt:lpstr>PowerPoint 演示文稿</vt:lpstr>
      <vt:lpstr>PowerPoint 演示文稿</vt:lpstr>
      <vt:lpstr>Methodology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Rutba Khatun</dc:title>
  <dc:creator/>
  <cp:lastModifiedBy>Rutba Khatun</cp:lastModifiedBy>
  <cp:revision>1</cp:revision>
  <dcterms:created xsi:type="dcterms:W3CDTF">2026-06-12T19:05:10Z</dcterms:created>
  <dcterms:modified xsi:type="dcterms:W3CDTF">2026-06-12T19:05:10Z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D74A74158ECFFA8666582C6A6FDD544F_42</vt:lpwstr>
  </property>
</Properties>
</file>